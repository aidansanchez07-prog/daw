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Play"/>
      <p:regular r:id="rId35"/>
      <p:bold r:id="rId36"/>
    </p:embeddedFont>
    <p:embeddedFont>
      <p:font typeface="Overlock"/>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D1A15F-D033-4F78-B48B-6198409DA2BD}">
  <a:tblStyle styleId="{9BD1A15F-D033-4F78-B48B-6198409DA2BD}" styleName="Table_0">
    <a:wholeTbl>
      <a:tcTxStyle b="off" i="off">
        <a:font>
          <a:latin typeface="Aptos"/>
          <a:ea typeface="Aptos"/>
          <a:cs typeface="Aptos"/>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verlock-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lay-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Overlock-regular.fntdata"/><Relationship Id="rId14" Type="http://schemas.openxmlformats.org/officeDocument/2006/relationships/slide" Target="slides/slide8.xml"/><Relationship Id="rId36" Type="http://schemas.openxmlformats.org/officeDocument/2006/relationships/font" Target="fonts/Play-bold.fntdata"/><Relationship Id="rId17" Type="http://schemas.openxmlformats.org/officeDocument/2006/relationships/slide" Target="slides/slide11.xml"/><Relationship Id="rId39" Type="http://schemas.openxmlformats.org/officeDocument/2006/relationships/font" Target="fonts/Overlock-italic.fntdata"/><Relationship Id="rId16" Type="http://schemas.openxmlformats.org/officeDocument/2006/relationships/slide" Target="slides/slide10.xml"/><Relationship Id="rId38" Type="http://schemas.openxmlformats.org/officeDocument/2006/relationships/font" Target="fonts/Overloc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8" name="Shape 18"/>
        <p:cNvGrpSpPr/>
        <p:nvPr/>
      </p:nvGrpSpPr>
      <p:grpSpPr>
        <a:xfrm>
          <a:off x="0" y="0"/>
          <a:ext cx="0" cy="0"/>
          <a:chOff x="0" y="0"/>
          <a:chExt cx="0" cy="0"/>
        </a:xfrm>
      </p:grpSpPr>
      <p:sp>
        <p:nvSpPr>
          <p:cNvPr id="19" name="Google Shape;19;p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2" name="Shape 22"/>
        <p:cNvGrpSpPr/>
        <p:nvPr/>
      </p:nvGrpSpPr>
      <p:grpSpPr>
        <a:xfrm>
          <a:off x="0" y="0"/>
          <a:ext cx="0" cy="0"/>
          <a:chOff x="0" y="0"/>
          <a:chExt cx="0" cy="0"/>
        </a:xfrm>
      </p:grpSpPr>
      <p:sp>
        <p:nvSpPr>
          <p:cNvPr id="23" name="Google Shape;23;p3"/>
          <p:cNvSpPr txBox="1"/>
          <p:nvPr>
            <p:ph type="ctrTitle"/>
          </p:nvPr>
        </p:nvSpPr>
        <p:spPr>
          <a:xfrm>
            <a:off x="2286000" y="1683545"/>
            <a:ext cx="13716000" cy="35814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9000"/>
              <a:buFont typeface="Play"/>
              <a:buNone/>
              <a:defRPr sz="9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subTitle"/>
          </p:nvPr>
        </p:nvSpPr>
        <p:spPr>
          <a:xfrm>
            <a:off x="2286000" y="5403057"/>
            <a:ext cx="13716000" cy="248364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750"/>
              </a:spcBef>
              <a:spcAft>
                <a:spcPts val="0"/>
              </a:spcAft>
              <a:buClr>
                <a:schemeClr val="dk1"/>
              </a:buClr>
              <a:buSzPts val="3000"/>
              <a:buNone/>
              <a:defRPr sz="3000"/>
            </a:lvl2pPr>
            <a:lvl3pPr lvl="2" algn="ctr">
              <a:lnSpc>
                <a:spcPct val="90000"/>
              </a:lnSpc>
              <a:spcBef>
                <a:spcPts val="750"/>
              </a:spcBef>
              <a:spcAft>
                <a:spcPts val="0"/>
              </a:spcAft>
              <a:buClr>
                <a:schemeClr val="dk1"/>
              </a:buClr>
              <a:buSzPts val="2700"/>
              <a:buNone/>
              <a:defRPr sz="2700"/>
            </a:lvl3pPr>
            <a:lvl4pPr lvl="3" algn="ctr">
              <a:lnSpc>
                <a:spcPct val="90000"/>
              </a:lnSpc>
              <a:spcBef>
                <a:spcPts val="750"/>
              </a:spcBef>
              <a:spcAft>
                <a:spcPts val="0"/>
              </a:spcAft>
              <a:buClr>
                <a:schemeClr val="dk1"/>
              </a:buClr>
              <a:buSzPts val="2400"/>
              <a:buNone/>
              <a:defRPr sz="2400"/>
            </a:lvl4pPr>
            <a:lvl5pPr lvl="4" algn="ctr">
              <a:lnSpc>
                <a:spcPct val="90000"/>
              </a:lnSpc>
              <a:spcBef>
                <a:spcPts val="750"/>
              </a:spcBef>
              <a:spcAft>
                <a:spcPts val="0"/>
              </a:spcAft>
              <a:buClr>
                <a:schemeClr val="dk1"/>
              </a:buClr>
              <a:buSzPts val="2400"/>
              <a:buNone/>
              <a:defRPr sz="2400"/>
            </a:lvl5pPr>
            <a:lvl6pPr lvl="5" algn="ctr">
              <a:lnSpc>
                <a:spcPct val="90000"/>
              </a:lnSpc>
              <a:spcBef>
                <a:spcPts val="750"/>
              </a:spcBef>
              <a:spcAft>
                <a:spcPts val="0"/>
              </a:spcAft>
              <a:buClr>
                <a:schemeClr val="dk1"/>
              </a:buClr>
              <a:buSzPts val="2400"/>
              <a:buNone/>
              <a:defRPr sz="2400"/>
            </a:lvl6pPr>
            <a:lvl7pPr lvl="6" algn="ctr">
              <a:lnSpc>
                <a:spcPct val="90000"/>
              </a:lnSpc>
              <a:spcBef>
                <a:spcPts val="750"/>
              </a:spcBef>
              <a:spcAft>
                <a:spcPts val="0"/>
              </a:spcAft>
              <a:buClr>
                <a:schemeClr val="dk1"/>
              </a:buClr>
              <a:buSzPts val="2400"/>
              <a:buNone/>
              <a:defRPr sz="2400"/>
            </a:lvl7pPr>
            <a:lvl8pPr lvl="7" algn="ctr">
              <a:lnSpc>
                <a:spcPct val="90000"/>
              </a:lnSpc>
              <a:spcBef>
                <a:spcPts val="750"/>
              </a:spcBef>
              <a:spcAft>
                <a:spcPts val="0"/>
              </a:spcAft>
              <a:buClr>
                <a:schemeClr val="dk1"/>
              </a:buClr>
              <a:buSzPts val="2400"/>
              <a:buNone/>
              <a:defRPr sz="2400"/>
            </a:lvl8pPr>
            <a:lvl9pPr lvl="8" algn="ctr">
              <a:lnSpc>
                <a:spcPct val="90000"/>
              </a:lnSpc>
              <a:spcBef>
                <a:spcPts val="750"/>
              </a:spcBef>
              <a:spcAft>
                <a:spcPts val="0"/>
              </a:spcAft>
              <a:buClr>
                <a:schemeClr val="dk1"/>
              </a:buClr>
              <a:buSzPts val="2400"/>
              <a:buNone/>
              <a:defRPr sz="2400"/>
            </a:lvl9pPr>
          </a:lstStyle>
          <a:p/>
        </p:txBody>
      </p:sp>
      <p:sp>
        <p:nvSpPr>
          <p:cNvPr id="25" name="Google Shape;25;p3"/>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4"/>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31" name="Google Shape;31;p4"/>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34" name="Shape 34"/>
        <p:cNvGrpSpPr/>
        <p:nvPr/>
      </p:nvGrpSpPr>
      <p:grpSpPr>
        <a:xfrm>
          <a:off x="0" y="0"/>
          <a:ext cx="0" cy="0"/>
          <a:chOff x="0" y="0"/>
          <a:chExt cx="0" cy="0"/>
        </a:xfrm>
      </p:grpSpPr>
      <p:sp>
        <p:nvSpPr>
          <p:cNvPr id="35" name="Google Shape;35;p5"/>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body"/>
          </p:nvPr>
        </p:nvSpPr>
        <p:spPr>
          <a:xfrm>
            <a:off x="7774782" y="1481138"/>
            <a:ext cx="9258300" cy="7310438"/>
          </a:xfrm>
          <a:prstGeom prst="rect">
            <a:avLst/>
          </a:prstGeom>
          <a:noFill/>
          <a:ln>
            <a:noFill/>
          </a:ln>
        </p:spPr>
        <p:txBody>
          <a:bodyPr anchorCtr="0" anchor="t" bIns="45700" lIns="91425" spcFirstLastPara="1" rIns="91425" wrap="square" tIns="45700">
            <a:normAutofit/>
          </a:bodyPr>
          <a:lstStyle>
            <a:lvl1pPr indent="-533400" lvl="0" marL="457200" algn="l">
              <a:lnSpc>
                <a:spcPct val="90000"/>
              </a:lnSpc>
              <a:spcBef>
                <a:spcPts val="1500"/>
              </a:spcBef>
              <a:spcAft>
                <a:spcPts val="0"/>
              </a:spcAft>
              <a:buClr>
                <a:schemeClr val="dk1"/>
              </a:buClr>
              <a:buSzPts val="4800"/>
              <a:buChar char="•"/>
              <a:defRPr sz="4800"/>
            </a:lvl1pPr>
            <a:lvl2pPr indent="-495300" lvl="1" marL="914400" algn="l">
              <a:lnSpc>
                <a:spcPct val="90000"/>
              </a:lnSpc>
              <a:spcBef>
                <a:spcPts val="750"/>
              </a:spcBef>
              <a:spcAft>
                <a:spcPts val="0"/>
              </a:spcAft>
              <a:buClr>
                <a:schemeClr val="dk1"/>
              </a:buClr>
              <a:buSzPts val="4200"/>
              <a:buChar char="•"/>
              <a:defRPr sz="4200"/>
            </a:lvl2pPr>
            <a:lvl3pPr indent="-457200" lvl="2" marL="1371600" algn="l">
              <a:lnSpc>
                <a:spcPct val="90000"/>
              </a:lnSpc>
              <a:spcBef>
                <a:spcPts val="750"/>
              </a:spcBef>
              <a:spcAft>
                <a:spcPts val="0"/>
              </a:spcAft>
              <a:buClr>
                <a:schemeClr val="dk1"/>
              </a:buClr>
              <a:buSzPts val="3600"/>
              <a:buChar char="•"/>
              <a:defRPr sz="3600"/>
            </a:lvl3pPr>
            <a:lvl4pPr indent="-419100" lvl="3" marL="1828800" algn="l">
              <a:lnSpc>
                <a:spcPct val="90000"/>
              </a:lnSpc>
              <a:spcBef>
                <a:spcPts val="750"/>
              </a:spcBef>
              <a:spcAft>
                <a:spcPts val="0"/>
              </a:spcAft>
              <a:buClr>
                <a:schemeClr val="dk1"/>
              </a:buClr>
              <a:buSzPts val="3000"/>
              <a:buChar char="•"/>
              <a:defRPr sz="3000"/>
            </a:lvl4pPr>
            <a:lvl5pPr indent="-419100" lvl="4" marL="2286000" algn="l">
              <a:lnSpc>
                <a:spcPct val="90000"/>
              </a:lnSpc>
              <a:spcBef>
                <a:spcPts val="750"/>
              </a:spcBef>
              <a:spcAft>
                <a:spcPts val="0"/>
              </a:spcAft>
              <a:buClr>
                <a:schemeClr val="dk1"/>
              </a:buClr>
              <a:buSzPts val="3000"/>
              <a:buChar char="•"/>
              <a:defRPr sz="3000"/>
            </a:lvl5pPr>
            <a:lvl6pPr indent="-419100" lvl="5" marL="2743200" algn="l">
              <a:lnSpc>
                <a:spcPct val="90000"/>
              </a:lnSpc>
              <a:spcBef>
                <a:spcPts val="750"/>
              </a:spcBef>
              <a:spcAft>
                <a:spcPts val="0"/>
              </a:spcAft>
              <a:buClr>
                <a:schemeClr val="dk1"/>
              </a:buClr>
              <a:buSzPts val="3000"/>
              <a:buChar char="•"/>
              <a:defRPr sz="3000"/>
            </a:lvl6pPr>
            <a:lvl7pPr indent="-419100" lvl="6" marL="3200400" algn="l">
              <a:lnSpc>
                <a:spcPct val="90000"/>
              </a:lnSpc>
              <a:spcBef>
                <a:spcPts val="750"/>
              </a:spcBef>
              <a:spcAft>
                <a:spcPts val="0"/>
              </a:spcAft>
              <a:buClr>
                <a:schemeClr val="dk1"/>
              </a:buClr>
              <a:buSzPts val="3000"/>
              <a:buChar char="•"/>
              <a:defRPr sz="3000"/>
            </a:lvl7pPr>
            <a:lvl8pPr indent="-419100" lvl="7" marL="3657600" algn="l">
              <a:lnSpc>
                <a:spcPct val="90000"/>
              </a:lnSpc>
              <a:spcBef>
                <a:spcPts val="750"/>
              </a:spcBef>
              <a:spcAft>
                <a:spcPts val="0"/>
              </a:spcAft>
              <a:buClr>
                <a:schemeClr val="dk1"/>
              </a:buClr>
              <a:buSzPts val="3000"/>
              <a:buChar char="•"/>
              <a:defRPr sz="3000"/>
            </a:lvl8pPr>
            <a:lvl9pPr indent="-419100" lvl="8" marL="4114800" algn="l">
              <a:lnSpc>
                <a:spcPct val="90000"/>
              </a:lnSpc>
              <a:spcBef>
                <a:spcPts val="750"/>
              </a:spcBef>
              <a:spcAft>
                <a:spcPts val="0"/>
              </a:spcAft>
              <a:buClr>
                <a:schemeClr val="dk1"/>
              </a:buClr>
              <a:buSzPts val="3000"/>
              <a:buChar char="•"/>
              <a:defRPr sz="3000"/>
            </a:lvl9pPr>
          </a:lstStyle>
          <a:p/>
        </p:txBody>
      </p:sp>
      <p:sp>
        <p:nvSpPr>
          <p:cNvPr id="37" name="Google Shape;37;p5"/>
          <p:cNvSpPr txBox="1"/>
          <p:nvPr>
            <p:ph idx="2"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38" name="Google Shape;38;p5"/>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1" name="Shape 41"/>
        <p:cNvGrpSpPr/>
        <p:nvPr/>
      </p:nvGrpSpPr>
      <p:grpSpPr>
        <a:xfrm>
          <a:off x="0" y="0"/>
          <a:ext cx="0" cy="0"/>
          <a:chOff x="0" y="0"/>
          <a:chExt cx="0" cy="0"/>
        </a:xfrm>
      </p:grpSpPr>
      <p:sp>
        <p:nvSpPr>
          <p:cNvPr id="42" name="Google Shape;42;p6"/>
          <p:cNvSpPr txBox="1"/>
          <p:nvPr>
            <p:ph type="title"/>
          </p:nvPr>
        </p:nvSpPr>
        <p:spPr>
          <a:xfrm>
            <a:off x="1247775" y="2564608"/>
            <a:ext cx="15773400" cy="427910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000"/>
              <a:buFont typeface="Play"/>
              <a:buNone/>
              <a:defRPr sz="9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1247775" y="6884195"/>
            <a:ext cx="15773400" cy="22502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rgbClr val="757575"/>
              </a:buClr>
              <a:buSzPts val="3600"/>
              <a:buNone/>
              <a:defRPr sz="3600">
                <a:solidFill>
                  <a:srgbClr val="757575"/>
                </a:solidFill>
              </a:defRPr>
            </a:lvl1pPr>
            <a:lvl2pPr indent="-228600" lvl="1" marL="914400" algn="l">
              <a:lnSpc>
                <a:spcPct val="90000"/>
              </a:lnSpc>
              <a:spcBef>
                <a:spcPts val="750"/>
              </a:spcBef>
              <a:spcAft>
                <a:spcPts val="0"/>
              </a:spcAft>
              <a:buClr>
                <a:srgbClr val="757575"/>
              </a:buClr>
              <a:buSzPts val="3000"/>
              <a:buNone/>
              <a:defRPr sz="3000">
                <a:solidFill>
                  <a:srgbClr val="757575"/>
                </a:solidFill>
              </a:defRPr>
            </a:lvl2pPr>
            <a:lvl3pPr indent="-228600" lvl="2" marL="1371600" algn="l">
              <a:lnSpc>
                <a:spcPct val="90000"/>
              </a:lnSpc>
              <a:spcBef>
                <a:spcPts val="750"/>
              </a:spcBef>
              <a:spcAft>
                <a:spcPts val="0"/>
              </a:spcAft>
              <a:buClr>
                <a:srgbClr val="757575"/>
              </a:buClr>
              <a:buSzPts val="2700"/>
              <a:buNone/>
              <a:defRPr sz="2700">
                <a:solidFill>
                  <a:srgbClr val="757575"/>
                </a:solidFill>
              </a:defRPr>
            </a:lvl3pPr>
            <a:lvl4pPr indent="-228600" lvl="3" marL="1828800" algn="l">
              <a:lnSpc>
                <a:spcPct val="90000"/>
              </a:lnSpc>
              <a:spcBef>
                <a:spcPts val="750"/>
              </a:spcBef>
              <a:spcAft>
                <a:spcPts val="0"/>
              </a:spcAft>
              <a:buClr>
                <a:srgbClr val="757575"/>
              </a:buClr>
              <a:buSzPts val="2400"/>
              <a:buNone/>
              <a:defRPr sz="2400">
                <a:solidFill>
                  <a:srgbClr val="757575"/>
                </a:solidFill>
              </a:defRPr>
            </a:lvl4pPr>
            <a:lvl5pPr indent="-228600" lvl="4" marL="2286000" algn="l">
              <a:lnSpc>
                <a:spcPct val="90000"/>
              </a:lnSpc>
              <a:spcBef>
                <a:spcPts val="750"/>
              </a:spcBef>
              <a:spcAft>
                <a:spcPts val="0"/>
              </a:spcAft>
              <a:buClr>
                <a:srgbClr val="757575"/>
              </a:buClr>
              <a:buSzPts val="2400"/>
              <a:buNone/>
              <a:defRPr sz="2400">
                <a:solidFill>
                  <a:srgbClr val="757575"/>
                </a:solidFill>
              </a:defRPr>
            </a:lvl5pPr>
            <a:lvl6pPr indent="-228600" lvl="5" marL="2743200" algn="l">
              <a:lnSpc>
                <a:spcPct val="90000"/>
              </a:lnSpc>
              <a:spcBef>
                <a:spcPts val="750"/>
              </a:spcBef>
              <a:spcAft>
                <a:spcPts val="0"/>
              </a:spcAft>
              <a:buClr>
                <a:srgbClr val="757575"/>
              </a:buClr>
              <a:buSzPts val="2400"/>
              <a:buNone/>
              <a:defRPr sz="2400">
                <a:solidFill>
                  <a:srgbClr val="757575"/>
                </a:solidFill>
              </a:defRPr>
            </a:lvl6pPr>
            <a:lvl7pPr indent="-228600" lvl="6" marL="3200400" algn="l">
              <a:lnSpc>
                <a:spcPct val="90000"/>
              </a:lnSpc>
              <a:spcBef>
                <a:spcPts val="750"/>
              </a:spcBef>
              <a:spcAft>
                <a:spcPts val="0"/>
              </a:spcAft>
              <a:buClr>
                <a:srgbClr val="757575"/>
              </a:buClr>
              <a:buSzPts val="2400"/>
              <a:buNone/>
              <a:defRPr sz="2400">
                <a:solidFill>
                  <a:srgbClr val="757575"/>
                </a:solidFill>
              </a:defRPr>
            </a:lvl7pPr>
            <a:lvl8pPr indent="-228600" lvl="7" marL="3657600" algn="l">
              <a:lnSpc>
                <a:spcPct val="90000"/>
              </a:lnSpc>
              <a:spcBef>
                <a:spcPts val="750"/>
              </a:spcBef>
              <a:spcAft>
                <a:spcPts val="0"/>
              </a:spcAft>
              <a:buClr>
                <a:srgbClr val="757575"/>
              </a:buClr>
              <a:buSzPts val="2400"/>
              <a:buNone/>
              <a:defRPr sz="2400">
                <a:solidFill>
                  <a:srgbClr val="757575"/>
                </a:solidFill>
              </a:defRPr>
            </a:lvl8pPr>
            <a:lvl9pPr indent="-228600" lvl="8" marL="4114800" algn="l">
              <a:lnSpc>
                <a:spcPct val="90000"/>
              </a:lnSpc>
              <a:spcBef>
                <a:spcPts val="750"/>
              </a:spcBef>
              <a:spcAft>
                <a:spcPts val="0"/>
              </a:spcAft>
              <a:buClr>
                <a:srgbClr val="757575"/>
              </a:buClr>
              <a:buSzPts val="2400"/>
              <a:buNone/>
              <a:defRPr sz="2400">
                <a:solidFill>
                  <a:srgbClr val="757575"/>
                </a:solidFill>
              </a:defRPr>
            </a:lvl9pPr>
          </a:lstStyle>
          <a:p/>
        </p:txBody>
      </p:sp>
      <p:sp>
        <p:nvSpPr>
          <p:cNvPr id="44" name="Google Shape;44;p6"/>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1257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0" name="Google Shape;50;p7"/>
          <p:cNvSpPr txBox="1"/>
          <p:nvPr>
            <p:ph idx="2" type="body"/>
          </p:nvPr>
        </p:nvSpPr>
        <p:spPr>
          <a:xfrm>
            <a:off x="9258300" y="2738438"/>
            <a:ext cx="7772400" cy="6527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1" name="Google Shape;51;p7"/>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4" name="Shape 54"/>
        <p:cNvGrpSpPr/>
        <p:nvPr/>
      </p:nvGrpSpPr>
      <p:grpSpPr>
        <a:xfrm>
          <a:off x="0" y="0"/>
          <a:ext cx="0" cy="0"/>
          <a:chOff x="0" y="0"/>
          <a:chExt cx="0" cy="0"/>
        </a:xfrm>
      </p:grpSpPr>
      <p:sp>
        <p:nvSpPr>
          <p:cNvPr id="55" name="Google Shape;55;p8"/>
          <p:cNvSpPr txBox="1"/>
          <p:nvPr>
            <p:ph type="title"/>
          </p:nvPr>
        </p:nvSpPr>
        <p:spPr>
          <a:xfrm>
            <a:off x="1259682"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1" type="body"/>
          </p:nvPr>
        </p:nvSpPr>
        <p:spPr>
          <a:xfrm>
            <a:off x="1259683" y="2521745"/>
            <a:ext cx="7736681"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57" name="Google Shape;57;p8"/>
          <p:cNvSpPr txBox="1"/>
          <p:nvPr>
            <p:ph idx="2" type="body"/>
          </p:nvPr>
        </p:nvSpPr>
        <p:spPr>
          <a:xfrm>
            <a:off x="1259683" y="3757613"/>
            <a:ext cx="7736681"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58" name="Google Shape;58;p8"/>
          <p:cNvSpPr txBox="1"/>
          <p:nvPr>
            <p:ph idx="3" type="body"/>
          </p:nvPr>
        </p:nvSpPr>
        <p:spPr>
          <a:xfrm>
            <a:off x="9258300" y="2521745"/>
            <a:ext cx="7774782" cy="123586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3600"/>
              <a:buNone/>
              <a:defRPr b="1" sz="3600"/>
            </a:lvl1pPr>
            <a:lvl2pPr indent="-228600" lvl="1" marL="914400" algn="l">
              <a:lnSpc>
                <a:spcPct val="90000"/>
              </a:lnSpc>
              <a:spcBef>
                <a:spcPts val="750"/>
              </a:spcBef>
              <a:spcAft>
                <a:spcPts val="0"/>
              </a:spcAft>
              <a:buClr>
                <a:schemeClr val="dk1"/>
              </a:buClr>
              <a:buSzPts val="3000"/>
              <a:buNone/>
              <a:defRPr b="1" sz="3000"/>
            </a:lvl2pPr>
            <a:lvl3pPr indent="-228600" lvl="2" marL="1371600" algn="l">
              <a:lnSpc>
                <a:spcPct val="90000"/>
              </a:lnSpc>
              <a:spcBef>
                <a:spcPts val="750"/>
              </a:spcBef>
              <a:spcAft>
                <a:spcPts val="0"/>
              </a:spcAft>
              <a:buClr>
                <a:schemeClr val="dk1"/>
              </a:buClr>
              <a:buSzPts val="2700"/>
              <a:buNone/>
              <a:defRPr b="1" sz="2700"/>
            </a:lvl3pPr>
            <a:lvl4pPr indent="-228600" lvl="3" marL="1828800" algn="l">
              <a:lnSpc>
                <a:spcPct val="90000"/>
              </a:lnSpc>
              <a:spcBef>
                <a:spcPts val="750"/>
              </a:spcBef>
              <a:spcAft>
                <a:spcPts val="0"/>
              </a:spcAft>
              <a:buClr>
                <a:schemeClr val="dk1"/>
              </a:buClr>
              <a:buSzPts val="2400"/>
              <a:buNone/>
              <a:defRPr b="1" sz="2400"/>
            </a:lvl4pPr>
            <a:lvl5pPr indent="-228600" lvl="4" marL="2286000" algn="l">
              <a:lnSpc>
                <a:spcPct val="90000"/>
              </a:lnSpc>
              <a:spcBef>
                <a:spcPts val="750"/>
              </a:spcBef>
              <a:spcAft>
                <a:spcPts val="0"/>
              </a:spcAft>
              <a:buClr>
                <a:schemeClr val="dk1"/>
              </a:buClr>
              <a:buSzPts val="2400"/>
              <a:buNone/>
              <a:defRPr b="1" sz="2400"/>
            </a:lvl5pPr>
            <a:lvl6pPr indent="-228600" lvl="5" marL="2743200" algn="l">
              <a:lnSpc>
                <a:spcPct val="90000"/>
              </a:lnSpc>
              <a:spcBef>
                <a:spcPts val="750"/>
              </a:spcBef>
              <a:spcAft>
                <a:spcPts val="0"/>
              </a:spcAft>
              <a:buClr>
                <a:schemeClr val="dk1"/>
              </a:buClr>
              <a:buSzPts val="2400"/>
              <a:buNone/>
              <a:defRPr b="1" sz="2400"/>
            </a:lvl6pPr>
            <a:lvl7pPr indent="-228600" lvl="6" marL="3200400" algn="l">
              <a:lnSpc>
                <a:spcPct val="90000"/>
              </a:lnSpc>
              <a:spcBef>
                <a:spcPts val="750"/>
              </a:spcBef>
              <a:spcAft>
                <a:spcPts val="0"/>
              </a:spcAft>
              <a:buClr>
                <a:schemeClr val="dk1"/>
              </a:buClr>
              <a:buSzPts val="2400"/>
              <a:buNone/>
              <a:defRPr b="1" sz="2400"/>
            </a:lvl7pPr>
            <a:lvl8pPr indent="-228600" lvl="7" marL="3657600" algn="l">
              <a:lnSpc>
                <a:spcPct val="90000"/>
              </a:lnSpc>
              <a:spcBef>
                <a:spcPts val="750"/>
              </a:spcBef>
              <a:spcAft>
                <a:spcPts val="0"/>
              </a:spcAft>
              <a:buClr>
                <a:schemeClr val="dk1"/>
              </a:buClr>
              <a:buSzPts val="2400"/>
              <a:buNone/>
              <a:defRPr b="1" sz="2400"/>
            </a:lvl8pPr>
            <a:lvl9pPr indent="-228600" lvl="8" marL="4114800" algn="l">
              <a:lnSpc>
                <a:spcPct val="90000"/>
              </a:lnSpc>
              <a:spcBef>
                <a:spcPts val="750"/>
              </a:spcBef>
              <a:spcAft>
                <a:spcPts val="0"/>
              </a:spcAft>
              <a:buClr>
                <a:schemeClr val="dk1"/>
              </a:buClr>
              <a:buSzPts val="2400"/>
              <a:buNone/>
              <a:defRPr b="1" sz="2400"/>
            </a:lvl9pPr>
          </a:lstStyle>
          <a:p/>
        </p:txBody>
      </p:sp>
      <p:sp>
        <p:nvSpPr>
          <p:cNvPr id="59" name="Google Shape;59;p8"/>
          <p:cNvSpPr txBox="1"/>
          <p:nvPr>
            <p:ph idx="4" type="body"/>
          </p:nvPr>
        </p:nvSpPr>
        <p:spPr>
          <a:xfrm>
            <a:off x="9258300" y="3757613"/>
            <a:ext cx="7774782" cy="55268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60" name="Google Shape;60;p8"/>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3" name="Shape 63"/>
        <p:cNvGrpSpPr/>
        <p:nvPr/>
      </p:nvGrpSpPr>
      <p:grpSpPr>
        <a:xfrm>
          <a:off x="0" y="0"/>
          <a:ext cx="0" cy="0"/>
          <a:chOff x="0" y="0"/>
          <a:chExt cx="0" cy="0"/>
        </a:xfrm>
      </p:grpSpPr>
      <p:sp>
        <p:nvSpPr>
          <p:cNvPr id="64" name="Google Shape;64;p9"/>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9"/>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10"/>
          <p:cNvSpPr txBox="1"/>
          <p:nvPr>
            <p:ph type="title"/>
          </p:nvPr>
        </p:nvSpPr>
        <p:spPr>
          <a:xfrm>
            <a:off x="1259683" y="685800"/>
            <a:ext cx="5898356" cy="24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Pla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0"/>
          <p:cNvSpPr/>
          <p:nvPr>
            <p:ph idx="2" type="pic"/>
          </p:nvPr>
        </p:nvSpPr>
        <p:spPr>
          <a:xfrm>
            <a:off x="7774782" y="1481138"/>
            <a:ext cx="9258300" cy="7310438"/>
          </a:xfrm>
          <a:prstGeom prst="rect">
            <a:avLst/>
          </a:prstGeom>
          <a:noFill/>
          <a:ln>
            <a:noFill/>
          </a:ln>
        </p:spPr>
      </p:sp>
      <p:sp>
        <p:nvSpPr>
          <p:cNvPr id="71" name="Google Shape;71;p10"/>
          <p:cNvSpPr txBox="1"/>
          <p:nvPr>
            <p:ph idx="1" type="body"/>
          </p:nvPr>
        </p:nvSpPr>
        <p:spPr>
          <a:xfrm>
            <a:off x="1259683" y="3086100"/>
            <a:ext cx="5898356" cy="571738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500"/>
              </a:spcBef>
              <a:spcAft>
                <a:spcPts val="0"/>
              </a:spcAft>
              <a:buClr>
                <a:schemeClr val="dk1"/>
              </a:buClr>
              <a:buSzPts val="2400"/>
              <a:buNone/>
              <a:defRPr sz="2400"/>
            </a:lvl1pPr>
            <a:lvl2pPr indent="-228600" lvl="1" marL="914400" algn="l">
              <a:lnSpc>
                <a:spcPct val="90000"/>
              </a:lnSpc>
              <a:spcBef>
                <a:spcPts val="750"/>
              </a:spcBef>
              <a:spcAft>
                <a:spcPts val="0"/>
              </a:spcAft>
              <a:buClr>
                <a:schemeClr val="dk1"/>
              </a:buClr>
              <a:buSzPts val="2100"/>
              <a:buNone/>
              <a:defRPr sz="2100"/>
            </a:lvl2pPr>
            <a:lvl3pPr indent="-228600" lvl="2" marL="1371600" algn="l">
              <a:lnSpc>
                <a:spcPct val="90000"/>
              </a:lnSpc>
              <a:spcBef>
                <a:spcPts val="750"/>
              </a:spcBef>
              <a:spcAft>
                <a:spcPts val="0"/>
              </a:spcAft>
              <a:buClr>
                <a:schemeClr val="dk1"/>
              </a:buClr>
              <a:buSzPts val="1800"/>
              <a:buNone/>
              <a:defRPr sz="1800"/>
            </a:lvl3pPr>
            <a:lvl4pPr indent="-228600" lvl="3" marL="1828800" algn="l">
              <a:lnSpc>
                <a:spcPct val="90000"/>
              </a:lnSpc>
              <a:spcBef>
                <a:spcPts val="750"/>
              </a:spcBef>
              <a:spcAft>
                <a:spcPts val="0"/>
              </a:spcAft>
              <a:buClr>
                <a:schemeClr val="dk1"/>
              </a:buClr>
              <a:buSzPts val="1500"/>
              <a:buNone/>
              <a:defRPr sz="1500"/>
            </a:lvl4pPr>
            <a:lvl5pPr indent="-228600" lvl="4" marL="2286000" algn="l">
              <a:lnSpc>
                <a:spcPct val="90000"/>
              </a:lnSpc>
              <a:spcBef>
                <a:spcPts val="750"/>
              </a:spcBef>
              <a:spcAft>
                <a:spcPts val="0"/>
              </a:spcAft>
              <a:buClr>
                <a:schemeClr val="dk1"/>
              </a:buClr>
              <a:buSzPts val="1500"/>
              <a:buNone/>
              <a:defRPr sz="1500"/>
            </a:lvl5pPr>
            <a:lvl6pPr indent="-228600" lvl="5" marL="2743200" algn="l">
              <a:lnSpc>
                <a:spcPct val="90000"/>
              </a:lnSpc>
              <a:spcBef>
                <a:spcPts val="750"/>
              </a:spcBef>
              <a:spcAft>
                <a:spcPts val="0"/>
              </a:spcAft>
              <a:buClr>
                <a:schemeClr val="dk1"/>
              </a:buClr>
              <a:buSzPts val="1500"/>
              <a:buNone/>
              <a:defRPr sz="1500"/>
            </a:lvl6pPr>
            <a:lvl7pPr indent="-228600" lvl="6" marL="3200400" algn="l">
              <a:lnSpc>
                <a:spcPct val="90000"/>
              </a:lnSpc>
              <a:spcBef>
                <a:spcPts val="750"/>
              </a:spcBef>
              <a:spcAft>
                <a:spcPts val="0"/>
              </a:spcAft>
              <a:buClr>
                <a:schemeClr val="dk1"/>
              </a:buClr>
              <a:buSzPts val="1500"/>
              <a:buNone/>
              <a:defRPr sz="1500"/>
            </a:lvl7pPr>
            <a:lvl8pPr indent="-228600" lvl="7" marL="3657600" algn="l">
              <a:lnSpc>
                <a:spcPct val="90000"/>
              </a:lnSpc>
              <a:spcBef>
                <a:spcPts val="750"/>
              </a:spcBef>
              <a:spcAft>
                <a:spcPts val="0"/>
              </a:spcAft>
              <a:buClr>
                <a:schemeClr val="dk1"/>
              </a:buClr>
              <a:buSzPts val="1500"/>
              <a:buNone/>
              <a:defRPr sz="1500"/>
            </a:lvl8pPr>
            <a:lvl9pPr indent="-228600" lvl="8" marL="4114800" algn="l">
              <a:lnSpc>
                <a:spcPct val="90000"/>
              </a:lnSpc>
              <a:spcBef>
                <a:spcPts val="750"/>
              </a:spcBef>
              <a:spcAft>
                <a:spcPts val="0"/>
              </a:spcAft>
              <a:buClr>
                <a:schemeClr val="dk1"/>
              </a:buClr>
              <a:buSzPts val="1500"/>
              <a:buNone/>
              <a:defRPr sz="1500"/>
            </a:lvl9pPr>
          </a:lstStyle>
          <a:p/>
        </p:txBody>
      </p:sp>
      <p:sp>
        <p:nvSpPr>
          <p:cNvPr id="72" name="Google Shape;72;p10"/>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11"/>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1"/>
          <p:cNvSpPr txBox="1"/>
          <p:nvPr>
            <p:ph idx="1" type="body"/>
          </p:nvPr>
        </p:nvSpPr>
        <p:spPr>
          <a:xfrm rot="5400000">
            <a:off x="5880497" y="-1884758"/>
            <a:ext cx="6527007" cy="1577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78" name="Google Shape;78;p1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12"/>
          <p:cNvSpPr txBox="1"/>
          <p:nvPr>
            <p:ph type="title"/>
          </p:nvPr>
        </p:nvSpPr>
        <p:spPr>
          <a:xfrm rot="5400000">
            <a:off x="10700147" y="2934892"/>
            <a:ext cx="8717757" cy="39433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2"/>
          <p:cNvSpPr txBox="1"/>
          <p:nvPr>
            <p:ph idx="1" type="body"/>
          </p:nvPr>
        </p:nvSpPr>
        <p:spPr>
          <a:xfrm rot="5400000">
            <a:off x="2699146" y="-894158"/>
            <a:ext cx="8717757" cy="11601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500"/>
              </a:spcBef>
              <a:spcAft>
                <a:spcPts val="0"/>
              </a:spcAft>
              <a:buClr>
                <a:schemeClr val="dk1"/>
              </a:buClr>
              <a:buSzPts val="1800"/>
              <a:buChar char="•"/>
              <a:defRPr/>
            </a:lvl1pPr>
            <a:lvl2pPr indent="-342900" lvl="1" marL="914400" algn="l">
              <a:lnSpc>
                <a:spcPct val="90000"/>
              </a:lnSpc>
              <a:spcBef>
                <a:spcPts val="750"/>
              </a:spcBef>
              <a:spcAft>
                <a:spcPts val="0"/>
              </a:spcAft>
              <a:buClr>
                <a:schemeClr val="dk1"/>
              </a:buClr>
              <a:buSzPts val="1800"/>
              <a:buChar char="•"/>
              <a:defRPr/>
            </a:lvl2pPr>
            <a:lvl3pPr indent="-342900" lvl="2" marL="1371600" algn="l">
              <a:lnSpc>
                <a:spcPct val="90000"/>
              </a:lnSpc>
              <a:spcBef>
                <a:spcPts val="750"/>
              </a:spcBef>
              <a:spcAft>
                <a:spcPts val="0"/>
              </a:spcAft>
              <a:buClr>
                <a:schemeClr val="dk1"/>
              </a:buClr>
              <a:buSzPts val="1800"/>
              <a:buChar char="•"/>
              <a:defRPr/>
            </a:lvl3pPr>
            <a:lvl4pPr indent="-342900" lvl="3" marL="1828800" algn="l">
              <a:lnSpc>
                <a:spcPct val="90000"/>
              </a:lnSpc>
              <a:spcBef>
                <a:spcPts val="750"/>
              </a:spcBef>
              <a:spcAft>
                <a:spcPts val="0"/>
              </a:spcAft>
              <a:buClr>
                <a:schemeClr val="dk1"/>
              </a:buClr>
              <a:buSzPts val="1800"/>
              <a:buChar char="•"/>
              <a:defRPr/>
            </a:lvl4pPr>
            <a:lvl5pPr indent="-342900" lvl="4" marL="2286000" algn="l">
              <a:lnSpc>
                <a:spcPct val="90000"/>
              </a:lnSpc>
              <a:spcBef>
                <a:spcPts val="750"/>
              </a:spcBef>
              <a:spcAft>
                <a:spcPts val="0"/>
              </a:spcAft>
              <a:buClr>
                <a:schemeClr val="dk1"/>
              </a:buClr>
              <a:buSzPts val="1800"/>
              <a:buChar char="•"/>
              <a:defRPr/>
            </a:lvl5pPr>
            <a:lvl6pPr indent="-342900" lvl="5" marL="2743200" algn="l">
              <a:lnSpc>
                <a:spcPct val="90000"/>
              </a:lnSpc>
              <a:spcBef>
                <a:spcPts val="750"/>
              </a:spcBef>
              <a:spcAft>
                <a:spcPts val="0"/>
              </a:spcAft>
              <a:buClr>
                <a:schemeClr val="dk1"/>
              </a:buClr>
              <a:buSzPts val="1800"/>
              <a:buChar char="•"/>
              <a:defRPr/>
            </a:lvl6pPr>
            <a:lvl7pPr indent="-342900" lvl="6" marL="3200400" algn="l">
              <a:lnSpc>
                <a:spcPct val="90000"/>
              </a:lnSpc>
              <a:spcBef>
                <a:spcPts val="750"/>
              </a:spcBef>
              <a:spcAft>
                <a:spcPts val="0"/>
              </a:spcAft>
              <a:buClr>
                <a:schemeClr val="dk1"/>
              </a:buClr>
              <a:buSzPts val="1800"/>
              <a:buChar char="•"/>
              <a:defRPr/>
            </a:lvl7pPr>
            <a:lvl8pPr indent="-342900" lvl="7" marL="3657600" algn="l">
              <a:lnSpc>
                <a:spcPct val="90000"/>
              </a:lnSpc>
              <a:spcBef>
                <a:spcPts val="750"/>
              </a:spcBef>
              <a:spcAft>
                <a:spcPts val="0"/>
              </a:spcAft>
              <a:buClr>
                <a:schemeClr val="dk1"/>
              </a:buClr>
              <a:buSzPts val="1800"/>
              <a:buChar char="•"/>
              <a:defRPr/>
            </a:lvl8pPr>
            <a:lvl9pPr indent="-342900" lvl="8" marL="4114800" algn="l">
              <a:lnSpc>
                <a:spcPct val="90000"/>
              </a:lnSpc>
              <a:spcBef>
                <a:spcPts val="750"/>
              </a:spcBef>
              <a:spcAft>
                <a:spcPts val="0"/>
              </a:spcAft>
              <a:buClr>
                <a:schemeClr val="dk1"/>
              </a:buClr>
              <a:buSzPts val="1800"/>
              <a:buChar char="•"/>
              <a:defRPr/>
            </a:lvl9pPr>
          </a:lstStyle>
          <a:p/>
        </p:txBody>
      </p:sp>
      <p:sp>
        <p:nvSpPr>
          <p:cNvPr id="84" name="Google Shape;84;p12"/>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1500">
        <p:fade thruBlk="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49803"/>
          </a:schemeClr>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257300" y="547688"/>
            <a:ext cx="15773400" cy="198834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Play"/>
              <a:buNone/>
              <a:defRPr b="0" i="0" sz="66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257300" y="2738438"/>
            <a:ext cx="15773400" cy="6527007"/>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Arial"/>
                <a:ea typeface="Arial"/>
                <a:cs typeface="Arial"/>
                <a:sym typeface="Arial"/>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1257300" y="9534526"/>
            <a:ext cx="4114800"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6057900" y="9534526"/>
            <a:ext cx="6172200" cy="54768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12915900" y="9534526"/>
            <a:ext cx="4114800"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800" u="none" cap="none" strike="noStrike">
                <a:solidFill>
                  <a:srgbClr val="757575"/>
                </a:solidFill>
                <a:latin typeface="Arial"/>
                <a:ea typeface="Arial"/>
                <a:cs typeface="Arial"/>
                <a:sym typeface="Arial"/>
              </a:defRPr>
            </a:lvl1pPr>
            <a:lvl2pPr indent="0" lvl="1" marL="0" marR="0" rtl="0" algn="r">
              <a:spcBef>
                <a:spcPts val="0"/>
              </a:spcBef>
              <a:buNone/>
              <a:defRPr b="0" i="0" sz="1800" u="none" cap="none" strike="noStrike">
                <a:solidFill>
                  <a:srgbClr val="757575"/>
                </a:solidFill>
                <a:latin typeface="Arial"/>
                <a:ea typeface="Arial"/>
                <a:cs typeface="Arial"/>
                <a:sym typeface="Arial"/>
              </a:defRPr>
            </a:lvl2pPr>
            <a:lvl3pPr indent="0" lvl="2" marL="0" marR="0" rtl="0" algn="r">
              <a:spcBef>
                <a:spcPts val="0"/>
              </a:spcBef>
              <a:buNone/>
              <a:defRPr b="0" i="0" sz="1800" u="none" cap="none" strike="noStrike">
                <a:solidFill>
                  <a:srgbClr val="757575"/>
                </a:solidFill>
                <a:latin typeface="Arial"/>
                <a:ea typeface="Arial"/>
                <a:cs typeface="Arial"/>
                <a:sym typeface="Arial"/>
              </a:defRPr>
            </a:lvl3pPr>
            <a:lvl4pPr indent="0" lvl="3" marL="0" marR="0" rtl="0" algn="r">
              <a:spcBef>
                <a:spcPts val="0"/>
              </a:spcBef>
              <a:buNone/>
              <a:defRPr b="0" i="0" sz="1800" u="none" cap="none" strike="noStrike">
                <a:solidFill>
                  <a:srgbClr val="757575"/>
                </a:solidFill>
                <a:latin typeface="Arial"/>
                <a:ea typeface="Arial"/>
                <a:cs typeface="Arial"/>
                <a:sym typeface="Arial"/>
              </a:defRPr>
            </a:lvl4pPr>
            <a:lvl5pPr indent="0" lvl="4" marL="0" marR="0" rtl="0" algn="r">
              <a:spcBef>
                <a:spcPts val="0"/>
              </a:spcBef>
              <a:buNone/>
              <a:defRPr b="0" i="0" sz="1800" u="none" cap="none" strike="noStrike">
                <a:solidFill>
                  <a:srgbClr val="757575"/>
                </a:solidFill>
                <a:latin typeface="Arial"/>
                <a:ea typeface="Arial"/>
                <a:cs typeface="Arial"/>
                <a:sym typeface="Arial"/>
              </a:defRPr>
            </a:lvl5pPr>
            <a:lvl6pPr indent="0" lvl="5" marL="0" marR="0" rtl="0" algn="r">
              <a:spcBef>
                <a:spcPts val="0"/>
              </a:spcBef>
              <a:buNone/>
              <a:defRPr b="0" i="0" sz="1800" u="none" cap="none" strike="noStrike">
                <a:solidFill>
                  <a:srgbClr val="757575"/>
                </a:solidFill>
                <a:latin typeface="Arial"/>
                <a:ea typeface="Arial"/>
                <a:cs typeface="Arial"/>
                <a:sym typeface="Arial"/>
              </a:defRPr>
            </a:lvl6pPr>
            <a:lvl7pPr indent="0" lvl="6" marL="0" marR="0" rtl="0" algn="r">
              <a:spcBef>
                <a:spcPts val="0"/>
              </a:spcBef>
              <a:buNone/>
              <a:defRPr b="0" i="0" sz="1800" u="none" cap="none" strike="noStrike">
                <a:solidFill>
                  <a:srgbClr val="757575"/>
                </a:solidFill>
                <a:latin typeface="Arial"/>
                <a:ea typeface="Arial"/>
                <a:cs typeface="Arial"/>
                <a:sym typeface="Arial"/>
              </a:defRPr>
            </a:lvl7pPr>
            <a:lvl8pPr indent="0" lvl="7" marL="0" marR="0" rtl="0" algn="r">
              <a:spcBef>
                <a:spcPts val="0"/>
              </a:spcBef>
              <a:buNone/>
              <a:defRPr b="0" i="0" sz="1800" u="none" cap="none" strike="noStrike">
                <a:solidFill>
                  <a:srgbClr val="757575"/>
                </a:solidFill>
                <a:latin typeface="Arial"/>
                <a:ea typeface="Arial"/>
                <a:cs typeface="Arial"/>
                <a:sym typeface="Arial"/>
              </a:defRPr>
            </a:lvl8pPr>
            <a:lvl9pPr indent="0" lvl="8" marL="0" marR="0" rtl="0" algn="r">
              <a:spcBef>
                <a:spcPts val="0"/>
              </a:spcBef>
              <a:buNone/>
              <a:defRPr b="0" i="0" sz="18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pic>
        <p:nvPicPr>
          <p:cNvPr descr="Logotipo&#10;&#10;Descripción generada automáticamente" id="15" name="Google Shape;15;p1"/>
          <p:cNvPicPr preferRelativeResize="0"/>
          <p:nvPr/>
        </p:nvPicPr>
        <p:blipFill rotWithShape="1">
          <a:blip r:embed="rId1">
            <a:alphaModFix/>
          </a:blip>
          <a:srcRect b="0" l="0" r="0" t="0"/>
          <a:stretch/>
        </p:blipFill>
        <p:spPr>
          <a:xfrm>
            <a:off x="14973300" y="345283"/>
            <a:ext cx="2603884" cy="697305"/>
          </a:xfrm>
          <a:prstGeom prst="rect">
            <a:avLst/>
          </a:prstGeom>
          <a:noFill/>
          <a:ln>
            <a:noFill/>
          </a:ln>
        </p:spPr>
      </p:pic>
      <p:sp>
        <p:nvSpPr>
          <p:cNvPr id="16" name="Google Shape;16;p1"/>
          <p:cNvSpPr txBox="1"/>
          <p:nvPr/>
        </p:nvSpPr>
        <p:spPr>
          <a:xfrm>
            <a:off x="12039600" y="9625807"/>
            <a:ext cx="4810125"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b="0" i="0" lang="es-ES" sz="1600" u="none" cap="none" strike="noStrike">
                <a:solidFill>
                  <a:srgbClr val="3A7D22"/>
                </a:solidFill>
                <a:latin typeface="Arial"/>
                <a:ea typeface="Arial"/>
                <a:cs typeface="Arial"/>
                <a:sym typeface="Arial"/>
              </a:rPr>
              <a:t>Sostenibilidad aplicada al sector productivo</a:t>
            </a:r>
            <a:endParaRPr/>
          </a:p>
        </p:txBody>
      </p:sp>
      <p:sp>
        <p:nvSpPr>
          <p:cNvPr id="17" name="Google Shape;17;p1"/>
          <p:cNvSpPr txBox="1"/>
          <p:nvPr/>
        </p:nvSpPr>
        <p:spPr>
          <a:xfrm>
            <a:off x="23812" y="9630569"/>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1600" u="none" cap="none" strike="noStrike">
                <a:solidFill>
                  <a:srgbClr val="757575"/>
                </a:solidFill>
                <a:latin typeface="Arial"/>
                <a:ea typeface="Arial"/>
                <a:cs typeface="Arial"/>
                <a:sym typeface="Arial"/>
              </a:rPr>
              <a:t>© Ediciones Paraninfo</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15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7.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20.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5.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9.jpg"/><Relationship Id="rId4" Type="http://schemas.openxmlformats.org/officeDocument/2006/relationships/image" Target="../media/image31.png"/><Relationship Id="rId5"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jpg"/><Relationship Id="rId4" Type="http://schemas.openxmlformats.org/officeDocument/2006/relationships/image" Target="../media/image4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6.jp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jpg"/><Relationship Id="rId4" Type="http://schemas.openxmlformats.org/officeDocument/2006/relationships/image" Target="../media/image4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2.jp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43.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txBox="1"/>
          <p:nvPr/>
        </p:nvSpPr>
        <p:spPr>
          <a:xfrm>
            <a:off x="7882827" y="2836510"/>
            <a:ext cx="10344213" cy="1023293"/>
          </a:xfrm>
          <a:prstGeom prst="rect">
            <a:avLst/>
          </a:prstGeom>
          <a:noFill/>
          <a:ln>
            <a:noFill/>
          </a:ln>
        </p:spPr>
        <p:txBody>
          <a:bodyPr anchorCtr="0" anchor="t" bIns="0" lIns="0" spcFirstLastPara="1" rIns="0" wrap="square" tIns="0">
            <a:spAutoFit/>
          </a:bodyPr>
          <a:lstStyle/>
          <a:p>
            <a:pPr indent="0" lvl="0" marL="0" marR="0" rtl="0" algn="ctr">
              <a:lnSpc>
                <a:spcPct val="166481"/>
              </a:lnSpc>
              <a:spcBef>
                <a:spcPts val="0"/>
              </a:spcBef>
              <a:spcAft>
                <a:spcPts val="0"/>
              </a:spcAft>
              <a:buNone/>
            </a:pPr>
            <a:r>
              <a:rPr b="1" i="0" lang="es-ES" sz="5400" u="none" cap="none" strike="noStrike">
                <a:solidFill>
                  <a:srgbClr val="317F54"/>
                </a:solidFill>
                <a:latin typeface="Arial"/>
                <a:ea typeface="Arial"/>
                <a:cs typeface="Arial"/>
                <a:sym typeface="Arial"/>
              </a:rPr>
              <a:t>Unidad didáctica 1.  </a:t>
            </a:r>
            <a:endParaRPr/>
          </a:p>
        </p:txBody>
      </p:sp>
      <p:pic>
        <p:nvPicPr>
          <p:cNvPr descr="Interfaz de usuario gráfica&#10;&#10;Descripción generada automáticamente" id="92" name="Google Shape;92;p13"/>
          <p:cNvPicPr preferRelativeResize="0"/>
          <p:nvPr/>
        </p:nvPicPr>
        <p:blipFill rotWithShape="1">
          <a:blip r:embed="rId3">
            <a:alphaModFix/>
          </a:blip>
          <a:srcRect b="0" l="0" r="0" t="0"/>
          <a:stretch/>
        </p:blipFill>
        <p:spPr>
          <a:xfrm>
            <a:off x="1828800" y="876300"/>
            <a:ext cx="6284891" cy="8122072"/>
          </a:xfrm>
          <a:prstGeom prst="rect">
            <a:avLst/>
          </a:prstGeom>
          <a:noFill/>
          <a:ln>
            <a:noFill/>
          </a:ln>
          <a:effectLst>
            <a:outerShdw blurRad="292100" rotWithShape="0" algn="tl" dir="2700000" dist="139700">
              <a:srgbClr val="333333">
                <a:alpha val="64705"/>
              </a:srgbClr>
            </a:outerShdw>
          </a:effectLst>
        </p:spPr>
      </p:pic>
      <p:sp>
        <p:nvSpPr>
          <p:cNvPr id="93" name="Google Shape;93;p13"/>
          <p:cNvSpPr txBox="1"/>
          <p:nvPr/>
        </p:nvSpPr>
        <p:spPr>
          <a:xfrm>
            <a:off x="9046813" y="4229100"/>
            <a:ext cx="8016240" cy="28007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ES" sz="4400" u="none" cap="none" strike="noStrike">
                <a:solidFill>
                  <a:schemeClr val="accent6"/>
                </a:solidFill>
                <a:latin typeface="Arial"/>
                <a:ea typeface="Arial"/>
                <a:cs typeface="Arial"/>
                <a:sym typeface="Arial"/>
              </a:rPr>
              <a:t>Del  desarrollo  sostenible  a  la  sostenibilidad:  Agenda  2030  y  objetivos  de  desarrollo sostenible</a:t>
            </a:r>
            <a:endParaRPr/>
          </a:p>
        </p:txBody>
      </p:sp>
      <p:sp>
        <p:nvSpPr>
          <p:cNvPr id="94" name="Google Shape;94;p13"/>
          <p:cNvSpPr/>
          <p:nvPr/>
        </p:nvSpPr>
        <p:spPr>
          <a:xfrm>
            <a:off x="16002000" y="7734300"/>
            <a:ext cx="1581213" cy="1533606"/>
          </a:xfrm>
          <a:custGeom>
            <a:rect b="b" l="l" r="r" t="t"/>
            <a:pathLst>
              <a:path extrusionOk="0" h="5736459" w="5991079">
                <a:moveTo>
                  <a:pt x="0" y="0"/>
                </a:moveTo>
                <a:lnTo>
                  <a:pt x="5991079" y="0"/>
                </a:lnTo>
                <a:lnTo>
                  <a:pt x="5991079" y="5736459"/>
                </a:lnTo>
                <a:lnTo>
                  <a:pt x="0" y="573645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p:nvPr/>
        </p:nvSpPr>
        <p:spPr>
          <a:xfrm>
            <a:off x="9231087" y="2448267"/>
            <a:ext cx="8142514" cy="7037694"/>
          </a:xfrm>
          <a:custGeom>
            <a:rect b="b" l="l" r="r" t="t"/>
            <a:pathLst>
              <a:path extrusionOk="0" h="7743780" w="8727621">
                <a:moveTo>
                  <a:pt x="0" y="0"/>
                </a:moveTo>
                <a:lnTo>
                  <a:pt x="8727621" y="0"/>
                </a:lnTo>
                <a:lnTo>
                  <a:pt x="8727621" y="7743780"/>
                </a:lnTo>
                <a:lnTo>
                  <a:pt x="0" y="7743780"/>
                </a:lnTo>
                <a:lnTo>
                  <a:pt x="0" y="0"/>
                </a:lnTo>
                <a:close/>
              </a:path>
            </a:pathLst>
          </a:custGeom>
          <a:blipFill rotWithShape="1">
            <a:blip r:embed="rId3">
              <a:alphaModFix amt="199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Una caricatura de una persona&#10;&#10;Descripción generada automáticamente con confianza media" id="101" name="Google Shape;101;p14"/>
          <p:cNvPicPr preferRelativeResize="0"/>
          <p:nvPr/>
        </p:nvPicPr>
        <p:blipFill rotWithShape="1">
          <a:blip r:embed="rId4">
            <a:alphaModFix/>
          </a:blip>
          <a:srcRect b="0" l="0" r="0" t="0"/>
          <a:stretch/>
        </p:blipFill>
        <p:spPr>
          <a:xfrm>
            <a:off x="12880939" y="2324100"/>
            <a:ext cx="5013095" cy="7617398"/>
          </a:xfrm>
          <a:prstGeom prst="rect">
            <a:avLst/>
          </a:prstGeom>
          <a:noFill/>
          <a:ln>
            <a:noFill/>
          </a:ln>
        </p:spPr>
      </p:pic>
      <p:sp>
        <p:nvSpPr>
          <p:cNvPr id="102" name="Google Shape;102;p14"/>
          <p:cNvSpPr txBox="1"/>
          <p:nvPr/>
        </p:nvSpPr>
        <p:spPr>
          <a:xfrm>
            <a:off x="1028700" y="801038"/>
            <a:ext cx="13703830" cy="940770"/>
          </a:xfrm>
          <a:prstGeom prst="rect">
            <a:avLst/>
          </a:prstGeom>
          <a:noFill/>
          <a:ln>
            <a:noFill/>
          </a:ln>
        </p:spPr>
        <p:txBody>
          <a:bodyPr anchorCtr="0" anchor="t" bIns="0" lIns="0" spcFirstLastPara="1" rIns="0" wrap="square" tIns="0">
            <a:spAutoFit/>
          </a:bodyPr>
          <a:lstStyle/>
          <a:p>
            <a:pPr indent="0" lvl="0" marL="0" marR="0" rtl="0" algn="l">
              <a:lnSpc>
                <a:spcPct val="129993"/>
              </a:lnSpc>
              <a:spcBef>
                <a:spcPts val="0"/>
              </a:spcBef>
              <a:spcAft>
                <a:spcPts val="0"/>
              </a:spcAft>
              <a:buNone/>
            </a:pPr>
            <a:r>
              <a:rPr lang="es-ES" sz="6018">
                <a:solidFill>
                  <a:srgbClr val="317F54"/>
                </a:solidFill>
                <a:latin typeface="Overlock"/>
                <a:ea typeface="Overlock"/>
                <a:cs typeface="Overlock"/>
                <a:sym typeface="Overlock"/>
              </a:rPr>
              <a:t>Contenidos</a:t>
            </a:r>
            <a:endParaRPr/>
          </a:p>
        </p:txBody>
      </p:sp>
      <p:sp>
        <p:nvSpPr>
          <p:cNvPr id="103" name="Google Shape;103;p14"/>
          <p:cNvSpPr txBox="1"/>
          <p:nvPr/>
        </p:nvSpPr>
        <p:spPr>
          <a:xfrm>
            <a:off x="413015" y="2836598"/>
            <a:ext cx="13531585" cy="5742278"/>
          </a:xfrm>
          <a:prstGeom prst="rect">
            <a:avLst/>
          </a:prstGeom>
          <a:noFill/>
          <a:ln>
            <a:noFill/>
          </a:ln>
        </p:spPr>
        <p:txBody>
          <a:bodyPr anchorCtr="0" anchor="t" bIns="45700" lIns="91425" spcFirstLastPara="1" rIns="91425" wrap="square" tIns="45700">
            <a:spAutoFit/>
          </a:bodyPr>
          <a:lstStyle/>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1.1.  Contexto histórico en que aparece </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el concepto de desarrollo sostenible</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1.2.  El sistema productivo clásico: la economía </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de mercado y la globalización</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1.3.  La huella ecológica</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1.4.  De la definición de desarrollo sostenible </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a la sostenibilidad del sistema productivo</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1.5.  Marcos internacionales relativos a la sostenibilidad </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del sistema productivo</a:t>
            </a:r>
            <a:endParaRPr/>
          </a:p>
          <a:p>
            <a:pPr indent="0" lvl="1" marL="328959" marR="0" rtl="0" algn="l">
              <a:lnSpc>
                <a:spcPct val="133333"/>
              </a:lnSpc>
              <a:spcBef>
                <a:spcPts val="0"/>
              </a:spcBef>
              <a:spcAft>
                <a:spcPts val="0"/>
              </a:spcAft>
              <a:buNone/>
            </a:pPr>
            <a:r>
              <a:rPr b="1" i="0" lang="es-ES" sz="3000" u="none" cap="none" strike="noStrike">
                <a:solidFill>
                  <a:srgbClr val="317F54"/>
                </a:solidFill>
                <a:latin typeface="Arial"/>
                <a:ea typeface="Arial"/>
                <a:cs typeface="Arial"/>
                <a:sym typeface="Arial"/>
              </a:rPr>
              <a:t>1.6.  La Agenda 2030 y los objetivos de desarrollo sostenible</a:t>
            </a:r>
            <a:endParaRPr/>
          </a:p>
          <a:p>
            <a:pPr indent="0" lvl="1" marL="328959" marR="0" rtl="0" algn="l">
              <a:lnSpc>
                <a:spcPct val="150000"/>
              </a:lnSpc>
              <a:spcBef>
                <a:spcPts val="0"/>
              </a:spcBef>
              <a:spcAft>
                <a:spcPts val="0"/>
              </a:spcAft>
              <a:buNone/>
            </a:pPr>
            <a:r>
              <a:rPr b="1" i="0" lang="es-ES" sz="3000" u="none" cap="none" strike="noStrike">
                <a:solidFill>
                  <a:srgbClr val="317F54"/>
                </a:solidFill>
                <a:latin typeface="Arial"/>
                <a:ea typeface="Arial"/>
                <a:cs typeface="Arial"/>
                <a:sym typeface="Arial"/>
              </a:rPr>
              <a:t>1.7.  El impacto de la COVID-19</a:t>
            </a:r>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nvSpPr>
        <p:spPr>
          <a:xfrm>
            <a:off x="11201400" y="1562100"/>
            <a:ext cx="6324600" cy="2470815"/>
          </a:xfrm>
          <a:prstGeom prst="rect">
            <a:avLst/>
          </a:prstGeom>
          <a:noFill/>
          <a:ln>
            <a:noFill/>
          </a:ln>
        </p:spPr>
        <p:txBody>
          <a:bodyPr anchorCtr="0" anchor="b" bIns="45700" lIns="91425" spcFirstLastPara="1" rIns="91425" wrap="square" tIns="45700">
            <a:noAutofit/>
          </a:bodyPr>
          <a:lstStyle/>
          <a:p>
            <a:pPr indent="0" lvl="1" marL="328959" marR="0" rtl="0" algn="ctr">
              <a:lnSpc>
                <a:spcPct val="90000"/>
              </a:lnSpc>
              <a:spcBef>
                <a:spcPts val="0"/>
              </a:spcBef>
              <a:spcAft>
                <a:spcPts val="0"/>
              </a:spcAft>
              <a:buNone/>
            </a:pPr>
            <a:r>
              <a:rPr b="0" i="0" lang="es-ES" sz="4800" u="none" cap="none" strike="noStrike">
                <a:solidFill>
                  <a:srgbClr val="317F54"/>
                </a:solidFill>
                <a:latin typeface="Overlock"/>
                <a:ea typeface="Overlock"/>
                <a:cs typeface="Overlock"/>
                <a:sym typeface="Overlock"/>
              </a:rPr>
              <a:t>1.1.  Contexto histórico en que aparece </a:t>
            </a:r>
            <a:endParaRPr/>
          </a:p>
          <a:p>
            <a:pPr indent="0" lvl="1" marL="328959" marR="0" rtl="0" algn="ctr">
              <a:lnSpc>
                <a:spcPct val="90000"/>
              </a:lnSpc>
              <a:spcBef>
                <a:spcPts val="600"/>
              </a:spcBef>
              <a:spcAft>
                <a:spcPts val="0"/>
              </a:spcAft>
              <a:buNone/>
            </a:pPr>
            <a:r>
              <a:rPr b="0" i="0" lang="es-ES" sz="4800" u="none" cap="none" strike="noStrike">
                <a:solidFill>
                  <a:srgbClr val="317F54"/>
                </a:solidFill>
                <a:latin typeface="Overlock"/>
                <a:ea typeface="Overlock"/>
                <a:cs typeface="Overlock"/>
                <a:sym typeface="Overlock"/>
              </a:rPr>
              <a:t>       el concepto de desarrollo sostenible</a:t>
            </a:r>
            <a:endParaRPr b="0" i="0" sz="4800" u="none" cap="none" strike="noStrike">
              <a:solidFill>
                <a:srgbClr val="317F54"/>
              </a:solidFill>
              <a:latin typeface="Overlock"/>
              <a:ea typeface="Overlock"/>
              <a:cs typeface="Overlock"/>
              <a:sym typeface="Overlock"/>
            </a:endParaRPr>
          </a:p>
        </p:txBody>
      </p:sp>
      <p:pic>
        <p:nvPicPr>
          <p:cNvPr descr="Logotipo, Icono&#10;&#10;Descripción generada automáticamente" id="109" name="Google Shape;109;p15"/>
          <p:cNvPicPr preferRelativeResize="0"/>
          <p:nvPr/>
        </p:nvPicPr>
        <p:blipFill rotWithShape="1">
          <a:blip r:embed="rId3">
            <a:alphaModFix/>
          </a:blip>
          <a:srcRect b="0" l="0" r="0" t="0"/>
          <a:stretch/>
        </p:blipFill>
        <p:spPr>
          <a:xfrm>
            <a:off x="12268200" y="4305300"/>
            <a:ext cx="5029200" cy="5019142"/>
          </a:xfrm>
          <a:prstGeom prst="rect">
            <a:avLst/>
          </a:prstGeom>
          <a:noFill/>
          <a:ln>
            <a:noFill/>
          </a:ln>
        </p:spPr>
      </p:pic>
      <p:grpSp>
        <p:nvGrpSpPr>
          <p:cNvPr id="110" name="Google Shape;110;p15"/>
          <p:cNvGrpSpPr/>
          <p:nvPr/>
        </p:nvGrpSpPr>
        <p:grpSpPr>
          <a:xfrm>
            <a:off x="990600" y="800100"/>
            <a:ext cx="9144000" cy="8103499"/>
            <a:chOff x="0" y="0"/>
            <a:chExt cx="9144000" cy="8103499"/>
          </a:xfrm>
        </p:grpSpPr>
        <p:sp>
          <p:nvSpPr>
            <p:cNvPr id="111" name="Google Shape;111;p15"/>
            <p:cNvSpPr/>
            <p:nvPr/>
          </p:nvSpPr>
          <p:spPr>
            <a:xfrm>
              <a:off x="0" y="2858718"/>
              <a:ext cx="9144000" cy="499883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txBox="1"/>
            <p:nvPr/>
          </p:nvSpPr>
          <p:spPr>
            <a:xfrm>
              <a:off x="0" y="2858718"/>
              <a:ext cx="9144000" cy="2699373"/>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chemeClr val="lt1"/>
                </a:buClr>
                <a:buSzPts val="2000"/>
                <a:buFont typeface="Arial"/>
                <a:buNone/>
              </a:pPr>
              <a:r>
                <a:rPr lang="es-ES" sz="2000">
                  <a:solidFill>
                    <a:schemeClr val="lt1"/>
                  </a:solidFill>
                  <a:latin typeface="Arial"/>
                  <a:ea typeface="Arial"/>
                  <a:cs typeface="Arial"/>
                  <a:sym typeface="Arial"/>
                </a:rPr>
                <a:t>Esta bonanza económica se construyó sobre la expansión del comercio internacional y sobre varias ideas extendidas por los estamentos político y económico de la época. Entre otras, que:</a:t>
              </a:r>
              <a:endParaRPr sz="2000">
                <a:solidFill>
                  <a:schemeClr val="lt1"/>
                </a:solidFill>
                <a:latin typeface="Arial"/>
                <a:ea typeface="Arial"/>
                <a:cs typeface="Arial"/>
                <a:sym typeface="Arial"/>
              </a:endParaRPr>
            </a:p>
          </p:txBody>
        </p:sp>
        <p:sp>
          <p:nvSpPr>
            <p:cNvPr id="113" name="Google Shape;113;p15"/>
            <p:cNvSpPr/>
            <p:nvPr/>
          </p:nvSpPr>
          <p:spPr>
            <a:xfrm>
              <a:off x="17602" y="5804034"/>
              <a:ext cx="4572000" cy="2299465"/>
            </a:xfrm>
            <a:prstGeom prst="rect">
              <a:avLst/>
            </a:prstGeom>
            <a:solidFill>
              <a:srgbClr val="CAD1D8">
                <a:alpha val="89803"/>
              </a:srgbClr>
            </a:solidFill>
            <a:ln cap="flat" cmpd="sng" w="19050">
              <a:solidFill>
                <a:srgbClr val="CAD1D8">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txBox="1"/>
            <p:nvPr/>
          </p:nvSpPr>
          <p:spPr>
            <a:xfrm>
              <a:off x="17602" y="5804034"/>
              <a:ext cx="4572000" cy="2299465"/>
            </a:xfrm>
            <a:prstGeom prst="rect">
              <a:avLst/>
            </a:prstGeom>
            <a:noFill/>
            <a:ln>
              <a:noFill/>
            </a:ln>
          </p:spPr>
          <p:txBody>
            <a:bodyPr anchorCtr="0" anchor="ctr" bIns="25400" lIns="142225" spcFirstLastPara="1" rIns="142225" wrap="square" tIns="25400">
              <a:noAutofit/>
            </a:bodyPr>
            <a:lstStyle/>
            <a:p>
              <a:pPr indent="0" lvl="0" marL="0" marR="0" rtl="0" algn="ctr">
                <a:lnSpc>
                  <a:spcPct val="90000"/>
                </a:lnSpc>
                <a:spcBef>
                  <a:spcPts val="0"/>
                </a:spcBef>
                <a:spcAft>
                  <a:spcPts val="0"/>
                </a:spcAft>
                <a:buClr>
                  <a:schemeClr val="dk1"/>
                </a:buClr>
                <a:buSzPts val="2000"/>
                <a:buFont typeface="Arial"/>
                <a:buNone/>
              </a:pPr>
              <a:r>
                <a:rPr lang="es-ES" sz="2000">
                  <a:solidFill>
                    <a:schemeClr val="dk1"/>
                  </a:solidFill>
                  <a:latin typeface="Arial"/>
                  <a:ea typeface="Arial"/>
                  <a:cs typeface="Arial"/>
                  <a:sym typeface="Arial"/>
                </a:rPr>
                <a:t>Los recursos planetarios son ilimitados. </a:t>
              </a:r>
              <a:endParaRPr sz="2000">
                <a:solidFill>
                  <a:schemeClr val="dk1"/>
                </a:solidFill>
                <a:latin typeface="Arial"/>
                <a:ea typeface="Arial"/>
                <a:cs typeface="Arial"/>
                <a:sym typeface="Arial"/>
              </a:endParaRPr>
            </a:p>
          </p:txBody>
        </p:sp>
        <p:sp>
          <p:nvSpPr>
            <p:cNvPr id="115" name="Google Shape;115;p15"/>
            <p:cNvSpPr/>
            <p:nvPr/>
          </p:nvSpPr>
          <p:spPr>
            <a:xfrm>
              <a:off x="4572000" y="5804034"/>
              <a:ext cx="4572000" cy="2299465"/>
            </a:xfrm>
            <a:prstGeom prst="rect">
              <a:avLst/>
            </a:prstGeom>
            <a:solidFill>
              <a:srgbClr val="CAD1D8">
                <a:alpha val="89803"/>
              </a:srgbClr>
            </a:solidFill>
            <a:ln cap="flat" cmpd="sng" w="19050">
              <a:solidFill>
                <a:srgbClr val="CAD1D8">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txBox="1"/>
            <p:nvPr/>
          </p:nvSpPr>
          <p:spPr>
            <a:xfrm>
              <a:off x="4572000" y="5804034"/>
              <a:ext cx="4572000" cy="2299465"/>
            </a:xfrm>
            <a:prstGeom prst="rect">
              <a:avLst/>
            </a:prstGeom>
            <a:noFill/>
            <a:ln>
              <a:noFill/>
            </a:ln>
          </p:spPr>
          <p:txBody>
            <a:bodyPr anchorCtr="0" anchor="ctr" bIns="25400" lIns="142225" spcFirstLastPara="1" rIns="142225" wrap="square" tIns="25400">
              <a:noAutofit/>
            </a:bodyPr>
            <a:lstStyle/>
            <a:p>
              <a:pPr indent="0" lvl="0" marL="0" marR="0" rtl="0" algn="ctr">
                <a:lnSpc>
                  <a:spcPct val="90000"/>
                </a:lnSpc>
                <a:spcBef>
                  <a:spcPts val="0"/>
                </a:spcBef>
                <a:spcAft>
                  <a:spcPts val="0"/>
                </a:spcAft>
                <a:buClr>
                  <a:schemeClr val="dk1"/>
                </a:buClr>
                <a:buSzPts val="2000"/>
                <a:buFont typeface="Arial"/>
                <a:buNone/>
              </a:pPr>
              <a:r>
                <a:rPr lang="es-ES" sz="2000">
                  <a:solidFill>
                    <a:schemeClr val="dk1"/>
                  </a:solidFill>
                  <a:latin typeface="Arial"/>
                  <a:ea typeface="Arial"/>
                  <a:cs typeface="Arial"/>
                  <a:sym typeface="Arial"/>
                </a:rPr>
                <a:t>Un crecimiento económico prolongado permitiría a los países menos adelantados alcanzar un nivel económico similar al de los países desarrollados. </a:t>
              </a:r>
              <a:endParaRPr sz="2000">
                <a:solidFill>
                  <a:schemeClr val="dk1"/>
                </a:solidFill>
                <a:latin typeface="Arial"/>
                <a:ea typeface="Arial"/>
                <a:cs typeface="Arial"/>
                <a:sym typeface="Arial"/>
              </a:endParaRPr>
            </a:p>
          </p:txBody>
        </p:sp>
        <p:sp>
          <p:nvSpPr>
            <p:cNvPr id="117" name="Google Shape;117;p15"/>
            <p:cNvSpPr/>
            <p:nvPr/>
          </p:nvSpPr>
          <p:spPr>
            <a:xfrm rot="10800000">
              <a:off x="0" y="0"/>
              <a:ext cx="9144000" cy="3304087"/>
            </a:xfrm>
            <a:prstGeom prst="upArrowCallout">
              <a:avLst>
                <a:gd fmla="val 25000" name="adj1"/>
                <a:gd fmla="val 25000" name="adj2"/>
                <a:gd fmla="val 25000" name="adj3"/>
                <a:gd fmla="val 64977" name="adj4"/>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txBox="1"/>
            <p:nvPr/>
          </p:nvSpPr>
          <p:spPr>
            <a:xfrm>
              <a:off x="0" y="0"/>
              <a:ext cx="9144000" cy="2146897"/>
            </a:xfrm>
            <a:prstGeom prst="rect">
              <a:avLst/>
            </a:prstGeom>
            <a:noFill/>
            <a:ln>
              <a:noFill/>
            </a:ln>
          </p:spPr>
          <p:txBody>
            <a:bodyPr anchorCtr="0" anchor="ctr" bIns="142225" lIns="142225" spcFirstLastPara="1" rIns="142225" wrap="square" tIns="142225">
              <a:noAutofit/>
            </a:bodyPr>
            <a:lstStyle/>
            <a:p>
              <a:pPr indent="0" lvl="0" marL="0" marR="0" rtl="0" algn="ctr">
                <a:lnSpc>
                  <a:spcPct val="90000"/>
                </a:lnSpc>
                <a:spcBef>
                  <a:spcPts val="0"/>
                </a:spcBef>
                <a:spcAft>
                  <a:spcPts val="0"/>
                </a:spcAft>
                <a:buClr>
                  <a:schemeClr val="lt1"/>
                </a:buClr>
                <a:buSzPts val="2000"/>
                <a:buFont typeface="Arial"/>
                <a:buNone/>
              </a:pPr>
              <a:r>
                <a:rPr lang="es-ES" sz="2000">
                  <a:solidFill>
                    <a:schemeClr val="lt1"/>
                  </a:solidFill>
                  <a:latin typeface="Arial"/>
                  <a:ea typeface="Arial"/>
                  <a:cs typeface="Arial"/>
                  <a:sym typeface="Arial"/>
                </a:rPr>
                <a:t>A la finalización de la Segunda Guerra Mundial se produjo un crecimiento económico intenso.</a:t>
              </a:r>
              <a:endParaRPr sz="2000">
                <a:solidFill>
                  <a:schemeClr val="lt1"/>
                </a:solidFill>
                <a:latin typeface="Arial"/>
                <a:ea typeface="Arial"/>
                <a:cs typeface="Arial"/>
                <a:sym typeface="Arial"/>
              </a:endParaRPr>
            </a:p>
          </p:txBody>
        </p:sp>
      </p:grpSp>
    </p:spTree>
  </p:cSld>
  <p:clrMapOvr>
    <a:masterClrMapping/>
  </p:clrMapOvr>
  <mc:AlternateContent>
    <mc:Choice Requires="p14">
      <p:transition spd="slow" p14:dur="15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nvSpPr>
        <p:spPr>
          <a:xfrm>
            <a:off x="11663203" y="1451659"/>
            <a:ext cx="6601405"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s-ES" sz="6000">
                <a:solidFill>
                  <a:srgbClr val="317F54"/>
                </a:solidFill>
                <a:latin typeface="Overlock"/>
                <a:ea typeface="Overlock"/>
                <a:cs typeface="Overlock"/>
                <a:sym typeface="Overlock"/>
              </a:rPr>
              <a:t>1.1.1. El deterioro medioambiental</a:t>
            </a:r>
            <a:endParaRPr/>
          </a:p>
        </p:txBody>
      </p:sp>
      <p:sp>
        <p:nvSpPr>
          <p:cNvPr id="124" name="Google Shape;124;p16"/>
          <p:cNvSpPr txBox="1"/>
          <p:nvPr/>
        </p:nvSpPr>
        <p:spPr>
          <a:xfrm>
            <a:off x="6935094" y="5025680"/>
            <a:ext cx="8991762" cy="315743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2400">
                <a:solidFill>
                  <a:schemeClr val="accent3"/>
                </a:solidFill>
                <a:latin typeface="Arial"/>
                <a:ea typeface="Arial"/>
                <a:cs typeface="Arial"/>
                <a:sym typeface="Arial"/>
              </a:rPr>
              <a:t>La mayor producción industrial aceleró la contaminación de la atmósfera. La rápida expansión de la industria fue posible por la tecnificación del campo lo que, a su vez, permitió una emigración de la mano de obra de las zonas rurales hacia las ciudades. La intensificación de la agricultura produjo un deterioro general del medioambiente. </a:t>
            </a:r>
            <a:endParaRPr/>
          </a:p>
          <a:p>
            <a:pPr indent="152400" lvl="0" marL="0" marR="0" rtl="0" algn="l">
              <a:lnSpc>
                <a:spcPct val="90000"/>
              </a:lnSpc>
              <a:spcBef>
                <a:spcPts val="600"/>
              </a:spcBef>
              <a:spcAft>
                <a:spcPts val="0"/>
              </a:spcAft>
              <a:buClr>
                <a:schemeClr val="dk1"/>
              </a:buClr>
              <a:buSzPts val="2400"/>
              <a:buFont typeface="Arial"/>
              <a:buNone/>
            </a:pPr>
            <a:r>
              <a:t/>
            </a:r>
            <a:endParaRPr sz="2400">
              <a:solidFill>
                <a:schemeClr val="accent3"/>
              </a:solidFill>
              <a:latin typeface="Arial"/>
              <a:ea typeface="Arial"/>
              <a:cs typeface="Arial"/>
              <a:sym typeface="Arial"/>
            </a:endParaRPr>
          </a:p>
        </p:txBody>
      </p:sp>
      <p:pic>
        <p:nvPicPr>
          <p:cNvPr descr="Un pastel de cumpleaños&#10;&#10;Descripción generada automáticamente con confianza baja" id="125" name="Google Shape;125;p16"/>
          <p:cNvPicPr preferRelativeResize="0"/>
          <p:nvPr/>
        </p:nvPicPr>
        <p:blipFill rotWithShape="1">
          <a:blip r:embed="rId3">
            <a:alphaModFix/>
          </a:blip>
          <a:srcRect b="0" l="0" r="0" t="0"/>
          <a:stretch/>
        </p:blipFill>
        <p:spPr>
          <a:xfrm>
            <a:off x="152400" y="98324"/>
            <a:ext cx="2860767" cy="2653361"/>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26" name="Google Shape;126;p16"/>
          <p:cNvSpPr/>
          <p:nvPr/>
        </p:nvSpPr>
        <p:spPr>
          <a:xfrm flipH="1">
            <a:off x="3851366" y="1285905"/>
            <a:ext cx="1524000" cy="1293574"/>
          </a:xfrm>
          <a:custGeom>
            <a:rect b="b" l="l" r="r" t="t"/>
            <a:pathLst>
              <a:path extrusionOk="0" h="3072610" w="3492690">
                <a:moveTo>
                  <a:pt x="2403474" y="2742410"/>
                </a:moveTo>
                <a:lnTo>
                  <a:pt x="3413317" y="2742410"/>
                </a:lnTo>
                <a:cubicBezTo>
                  <a:pt x="3457153" y="2742410"/>
                  <a:pt x="3492690" y="2777947"/>
                  <a:pt x="3492690" y="2821783"/>
                </a:cubicBezTo>
                <a:lnTo>
                  <a:pt x="3492690" y="2993237"/>
                </a:lnTo>
                <a:cubicBezTo>
                  <a:pt x="3492690" y="3037073"/>
                  <a:pt x="3457153" y="3072610"/>
                  <a:pt x="3413317" y="3072610"/>
                </a:cubicBezTo>
                <a:lnTo>
                  <a:pt x="2403474" y="3072610"/>
                </a:lnTo>
                <a:cubicBezTo>
                  <a:pt x="2359638" y="3072610"/>
                  <a:pt x="2324101" y="3037073"/>
                  <a:pt x="2324101" y="2993237"/>
                </a:cubicBezTo>
                <a:lnTo>
                  <a:pt x="2324101" y="2821783"/>
                </a:lnTo>
                <a:cubicBezTo>
                  <a:pt x="2324101" y="2777947"/>
                  <a:pt x="2359638" y="2742410"/>
                  <a:pt x="2403474" y="2742410"/>
                </a:cubicBezTo>
                <a:close/>
                <a:moveTo>
                  <a:pt x="1187451" y="0"/>
                </a:moveTo>
                <a:cubicBezTo>
                  <a:pt x="1255838" y="0"/>
                  <a:pt x="1314513" y="41579"/>
                  <a:pt x="1339577" y="100836"/>
                </a:cubicBezTo>
                <a:lnTo>
                  <a:pt x="1347263" y="138906"/>
                </a:lnTo>
                <a:lnTo>
                  <a:pt x="2070101" y="138906"/>
                </a:lnTo>
                <a:cubicBezTo>
                  <a:pt x="2161283" y="138906"/>
                  <a:pt x="2235201" y="212824"/>
                  <a:pt x="2235201" y="304006"/>
                </a:cubicBezTo>
                <a:cubicBezTo>
                  <a:pt x="2235201" y="395188"/>
                  <a:pt x="2161283" y="469106"/>
                  <a:pt x="2070101" y="469106"/>
                </a:cubicBezTo>
                <a:lnTo>
                  <a:pt x="1352551" y="469106"/>
                </a:lnTo>
                <a:lnTo>
                  <a:pt x="1352551" y="773906"/>
                </a:lnTo>
                <a:lnTo>
                  <a:pt x="1631947" y="773906"/>
                </a:lnTo>
                <a:cubicBezTo>
                  <a:pt x="1754694" y="773906"/>
                  <a:pt x="1854201" y="873413"/>
                  <a:pt x="1854201" y="996160"/>
                </a:cubicBezTo>
                <a:lnTo>
                  <a:pt x="1854201" y="1072356"/>
                </a:lnTo>
                <a:lnTo>
                  <a:pt x="2529616" y="1072356"/>
                </a:lnTo>
                <a:lnTo>
                  <a:pt x="2529636" y="1072355"/>
                </a:lnTo>
                <a:lnTo>
                  <a:pt x="2529656" y="1072356"/>
                </a:lnTo>
                <a:lnTo>
                  <a:pt x="2530475" y="1072356"/>
                </a:lnTo>
                <a:lnTo>
                  <a:pt x="2530475" y="1072398"/>
                </a:lnTo>
                <a:lnTo>
                  <a:pt x="2608074" y="1076316"/>
                </a:lnTo>
                <a:cubicBezTo>
                  <a:pt x="2994919" y="1115602"/>
                  <a:pt x="3296796" y="1442305"/>
                  <a:pt x="3296796" y="1839515"/>
                </a:cubicBezTo>
                <a:lnTo>
                  <a:pt x="3296736" y="1840709"/>
                </a:lnTo>
                <a:lnTo>
                  <a:pt x="3296795" y="1840709"/>
                </a:lnTo>
                <a:lnTo>
                  <a:pt x="3296795" y="2707879"/>
                </a:lnTo>
                <a:lnTo>
                  <a:pt x="2528445" y="2707879"/>
                </a:lnTo>
                <a:lnTo>
                  <a:pt x="2528445" y="2606555"/>
                </a:lnTo>
                <a:lnTo>
                  <a:pt x="2528444" y="2606555"/>
                </a:lnTo>
                <a:lnTo>
                  <a:pt x="2528444" y="2232370"/>
                </a:lnTo>
                <a:lnTo>
                  <a:pt x="2528383" y="2232370"/>
                </a:lnTo>
                <a:lnTo>
                  <a:pt x="2528444" y="2231760"/>
                </a:lnTo>
                <a:cubicBezTo>
                  <a:pt x="2528444" y="2028669"/>
                  <a:pt x="2374096" y="1861627"/>
                  <a:pt x="2176304" y="1841540"/>
                </a:cubicBezTo>
                <a:lnTo>
                  <a:pt x="2136628" y="1839537"/>
                </a:lnTo>
                <a:lnTo>
                  <a:pt x="2136628" y="1839516"/>
                </a:lnTo>
                <a:lnTo>
                  <a:pt x="2136209" y="1839516"/>
                </a:lnTo>
                <a:lnTo>
                  <a:pt x="2136199" y="1839515"/>
                </a:lnTo>
                <a:lnTo>
                  <a:pt x="2136189" y="1839516"/>
                </a:lnTo>
                <a:lnTo>
                  <a:pt x="1854201" y="1839516"/>
                </a:lnTo>
                <a:lnTo>
                  <a:pt x="1854201" y="1935952"/>
                </a:lnTo>
                <a:cubicBezTo>
                  <a:pt x="1854201" y="2058699"/>
                  <a:pt x="1754694" y="2158206"/>
                  <a:pt x="1631947" y="2158206"/>
                </a:cubicBezTo>
                <a:lnTo>
                  <a:pt x="742955" y="2158206"/>
                </a:lnTo>
                <a:cubicBezTo>
                  <a:pt x="620208" y="2158206"/>
                  <a:pt x="520701" y="2058699"/>
                  <a:pt x="520701" y="1935952"/>
                </a:cubicBezTo>
                <a:lnTo>
                  <a:pt x="520701" y="1840706"/>
                </a:lnTo>
                <a:lnTo>
                  <a:pt x="0" y="1840706"/>
                </a:lnTo>
                <a:lnTo>
                  <a:pt x="0" y="1072356"/>
                </a:lnTo>
                <a:lnTo>
                  <a:pt x="520701" y="1072356"/>
                </a:lnTo>
                <a:lnTo>
                  <a:pt x="520701" y="996160"/>
                </a:lnTo>
                <a:cubicBezTo>
                  <a:pt x="520701" y="873413"/>
                  <a:pt x="620208" y="773906"/>
                  <a:pt x="742955" y="773906"/>
                </a:cubicBezTo>
                <a:lnTo>
                  <a:pt x="1022351" y="773906"/>
                </a:lnTo>
                <a:lnTo>
                  <a:pt x="1022351" y="469106"/>
                </a:lnTo>
                <a:lnTo>
                  <a:pt x="304801" y="469106"/>
                </a:lnTo>
                <a:cubicBezTo>
                  <a:pt x="213619" y="469106"/>
                  <a:pt x="139701" y="395188"/>
                  <a:pt x="139701" y="304006"/>
                </a:cubicBezTo>
                <a:cubicBezTo>
                  <a:pt x="139701" y="212824"/>
                  <a:pt x="213619" y="138906"/>
                  <a:pt x="304801" y="138906"/>
                </a:cubicBezTo>
                <a:lnTo>
                  <a:pt x="1027640" y="138906"/>
                </a:lnTo>
                <a:lnTo>
                  <a:pt x="1035326" y="100836"/>
                </a:lnTo>
                <a:cubicBezTo>
                  <a:pt x="1060389" y="41579"/>
                  <a:pt x="1119065" y="0"/>
                  <a:pt x="11874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16"/>
          <p:cNvSpPr/>
          <p:nvPr/>
        </p:nvSpPr>
        <p:spPr>
          <a:xfrm rot="-2882560">
            <a:off x="2418333" y="5002016"/>
            <a:ext cx="3503571" cy="3436093"/>
          </a:xfrm>
          <a:prstGeom prst="teardrop">
            <a:avLst>
              <a:gd fmla="val 100000" name="adj"/>
            </a:avLst>
          </a:prstGeom>
          <a:blipFill rotWithShape="1">
            <a:blip r:embed="rId4">
              <a:alphaModFix/>
            </a:blip>
            <a:stretch>
              <a:fillRect b="0" l="0" r="0" t="0"/>
            </a:stretch>
          </a:blip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16"/>
          <p:cNvSpPr/>
          <p:nvPr/>
        </p:nvSpPr>
        <p:spPr>
          <a:xfrm>
            <a:off x="3910492" y="2579479"/>
            <a:ext cx="259627" cy="559847"/>
          </a:xfrm>
          <a:custGeom>
            <a:rect b="b" l="l" r="r" t="t"/>
            <a:pathLst>
              <a:path extrusionOk="0" h="801965" w="371908">
                <a:moveTo>
                  <a:pt x="185954" y="0"/>
                </a:moveTo>
                <a:lnTo>
                  <a:pt x="191676" y="22887"/>
                </a:lnTo>
                <a:lnTo>
                  <a:pt x="214563" y="82964"/>
                </a:lnTo>
                <a:lnTo>
                  <a:pt x="243171" y="171649"/>
                </a:lnTo>
                <a:lnTo>
                  <a:pt x="280362" y="277499"/>
                </a:lnTo>
                <a:lnTo>
                  <a:pt x="314692" y="386210"/>
                </a:lnTo>
                <a:lnTo>
                  <a:pt x="343300" y="489199"/>
                </a:lnTo>
                <a:lnTo>
                  <a:pt x="366187" y="575023"/>
                </a:lnTo>
                <a:lnTo>
                  <a:pt x="371908" y="629379"/>
                </a:lnTo>
                <a:lnTo>
                  <a:pt x="369047" y="666569"/>
                </a:lnTo>
                <a:lnTo>
                  <a:pt x="360465" y="703760"/>
                </a:lnTo>
                <a:lnTo>
                  <a:pt x="340439" y="735229"/>
                </a:lnTo>
                <a:lnTo>
                  <a:pt x="320413" y="760976"/>
                </a:lnTo>
                <a:lnTo>
                  <a:pt x="288944" y="783862"/>
                </a:lnTo>
                <a:lnTo>
                  <a:pt x="257475" y="801027"/>
                </a:lnTo>
                <a:lnTo>
                  <a:pt x="255924" y="801673"/>
                </a:lnTo>
                <a:lnTo>
                  <a:pt x="243171" y="765375"/>
                </a:lnTo>
                <a:lnTo>
                  <a:pt x="214563" y="676690"/>
                </a:lnTo>
                <a:lnTo>
                  <a:pt x="191676" y="616613"/>
                </a:lnTo>
                <a:lnTo>
                  <a:pt x="185954" y="593726"/>
                </a:lnTo>
                <a:lnTo>
                  <a:pt x="177372" y="616613"/>
                </a:lnTo>
                <a:lnTo>
                  <a:pt x="154485" y="676690"/>
                </a:lnTo>
                <a:lnTo>
                  <a:pt x="125877" y="765375"/>
                </a:lnTo>
                <a:lnTo>
                  <a:pt x="114010" y="801965"/>
                </a:lnTo>
                <a:lnTo>
                  <a:pt x="111573" y="801027"/>
                </a:lnTo>
                <a:lnTo>
                  <a:pt x="82964" y="783862"/>
                </a:lnTo>
                <a:lnTo>
                  <a:pt x="54356" y="760976"/>
                </a:lnTo>
                <a:lnTo>
                  <a:pt x="34330" y="735229"/>
                </a:lnTo>
                <a:lnTo>
                  <a:pt x="14304" y="703760"/>
                </a:lnTo>
                <a:lnTo>
                  <a:pt x="2861" y="666569"/>
                </a:lnTo>
                <a:lnTo>
                  <a:pt x="0" y="629379"/>
                </a:lnTo>
                <a:lnTo>
                  <a:pt x="5722" y="575023"/>
                </a:lnTo>
                <a:lnTo>
                  <a:pt x="28609" y="489199"/>
                </a:lnTo>
                <a:lnTo>
                  <a:pt x="60078" y="386210"/>
                </a:lnTo>
                <a:lnTo>
                  <a:pt x="91547" y="277499"/>
                </a:lnTo>
                <a:lnTo>
                  <a:pt x="125877" y="171649"/>
                </a:lnTo>
                <a:lnTo>
                  <a:pt x="154485" y="82964"/>
                </a:lnTo>
                <a:lnTo>
                  <a:pt x="177372" y="22887"/>
                </a:lnTo>
                <a:close/>
              </a:path>
            </a:pathLst>
          </a:custGeom>
          <a:solidFill>
            <a:srgbClr val="57B4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16"/>
          <p:cNvSpPr/>
          <p:nvPr/>
        </p:nvSpPr>
        <p:spPr>
          <a:xfrm>
            <a:off x="3910492" y="3160081"/>
            <a:ext cx="259627" cy="559847"/>
          </a:xfrm>
          <a:custGeom>
            <a:rect b="b" l="l" r="r" t="t"/>
            <a:pathLst>
              <a:path extrusionOk="0" h="801965" w="371908">
                <a:moveTo>
                  <a:pt x="185954" y="0"/>
                </a:moveTo>
                <a:lnTo>
                  <a:pt x="191676" y="22887"/>
                </a:lnTo>
                <a:lnTo>
                  <a:pt x="214563" y="82964"/>
                </a:lnTo>
                <a:lnTo>
                  <a:pt x="243171" y="171649"/>
                </a:lnTo>
                <a:lnTo>
                  <a:pt x="280362" y="277499"/>
                </a:lnTo>
                <a:lnTo>
                  <a:pt x="314692" y="386210"/>
                </a:lnTo>
                <a:lnTo>
                  <a:pt x="343300" y="489199"/>
                </a:lnTo>
                <a:lnTo>
                  <a:pt x="366187" y="575023"/>
                </a:lnTo>
                <a:lnTo>
                  <a:pt x="371908" y="629379"/>
                </a:lnTo>
                <a:lnTo>
                  <a:pt x="369047" y="666569"/>
                </a:lnTo>
                <a:lnTo>
                  <a:pt x="360465" y="703760"/>
                </a:lnTo>
                <a:lnTo>
                  <a:pt x="340439" y="735229"/>
                </a:lnTo>
                <a:lnTo>
                  <a:pt x="320413" y="760976"/>
                </a:lnTo>
                <a:lnTo>
                  <a:pt x="288944" y="783862"/>
                </a:lnTo>
                <a:lnTo>
                  <a:pt x="257475" y="801027"/>
                </a:lnTo>
                <a:lnTo>
                  <a:pt x="255924" y="801673"/>
                </a:lnTo>
                <a:lnTo>
                  <a:pt x="243171" y="765375"/>
                </a:lnTo>
                <a:lnTo>
                  <a:pt x="214563" y="676690"/>
                </a:lnTo>
                <a:lnTo>
                  <a:pt x="191676" y="616613"/>
                </a:lnTo>
                <a:lnTo>
                  <a:pt x="185954" y="593726"/>
                </a:lnTo>
                <a:lnTo>
                  <a:pt x="177372" y="616613"/>
                </a:lnTo>
                <a:lnTo>
                  <a:pt x="154485" y="676690"/>
                </a:lnTo>
                <a:lnTo>
                  <a:pt x="125877" y="765375"/>
                </a:lnTo>
                <a:lnTo>
                  <a:pt x="114010" y="801965"/>
                </a:lnTo>
                <a:lnTo>
                  <a:pt x="111573" y="801027"/>
                </a:lnTo>
                <a:lnTo>
                  <a:pt x="82964" y="783862"/>
                </a:lnTo>
                <a:lnTo>
                  <a:pt x="54356" y="760976"/>
                </a:lnTo>
                <a:lnTo>
                  <a:pt x="34330" y="735229"/>
                </a:lnTo>
                <a:lnTo>
                  <a:pt x="14304" y="703760"/>
                </a:lnTo>
                <a:lnTo>
                  <a:pt x="2861" y="666569"/>
                </a:lnTo>
                <a:lnTo>
                  <a:pt x="0" y="629379"/>
                </a:lnTo>
                <a:lnTo>
                  <a:pt x="5722" y="575023"/>
                </a:lnTo>
                <a:lnTo>
                  <a:pt x="28609" y="489199"/>
                </a:lnTo>
                <a:lnTo>
                  <a:pt x="60078" y="386210"/>
                </a:lnTo>
                <a:lnTo>
                  <a:pt x="91547" y="277499"/>
                </a:lnTo>
                <a:lnTo>
                  <a:pt x="125877" y="171649"/>
                </a:lnTo>
                <a:lnTo>
                  <a:pt x="154485" y="82964"/>
                </a:lnTo>
                <a:lnTo>
                  <a:pt x="177372" y="22887"/>
                </a:lnTo>
                <a:close/>
              </a:path>
            </a:pathLst>
          </a:custGeom>
          <a:solidFill>
            <a:srgbClr val="57B4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16"/>
          <p:cNvSpPr/>
          <p:nvPr/>
        </p:nvSpPr>
        <p:spPr>
          <a:xfrm>
            <a:off x="3914195" y="3719928"/>
            <a:ext cx="259627" cy="559847"/>
          </a:xfrm>
          <a:custGeom>
            <a:rect b="b" l="l" r="r" t="t"/>
            <a:pathLst>
              <a:path extrusionOk="0" h="801965" w="371908">
                <a:moveTo>
                  <a:pt x="185954" y="0"/>
                </a:moveTo>
                <a:lnTo>
                  <a:pt x="191676" y="22887"/>
                </a:lnTo>
                <a:lnTo>
                  <a:pt x="214563" y="82964"/>
                </a:lnTo>
                <a:lnTo>
                  <a:pt x="243171" y="171649"/>
                </a:lnTo>
                <a:lnTo>
                  <a:pt x="280362" y="277499"/>
                </a:lnTo>
                <a:lnTo>
                  <a:pt x="314692" y="386210"/>
                </a:lnTo>
                <a:lnTo>
                  <a:pt x="343300" y="489199"/>
                </a:lnTo>
                <a:lnTo>
                  <a:pt x="366187" y="575023"/>
                </a:lnTo>
                <a:lnTo>
                  <a:pt x="371908" y="629379"/>
                </a:lnTo>
                <a:lnTo>
                  <a:pt x="369047" y="666569"/>
                </a:lnTo>
                <a:lnTo>
                  <a:pt x="360465" y="703760"/>
                </a:lnTo>
                <a:lnTo>
                  <a:pt x="340439" y="735229"/>
                </a:lnTo>
                <a:lnTo>
                  <a:pt x="320413" y="760976"/>
                </a:lnTo>
                <a:lnTo>
                  <a:pt x="288944" y="783862"/>
                </a:lnTo>
                <a:lnTo>
                  <a:pt x="257475" y="801027"/>
                </a:lnTo>
                <a:lnTo>
                  <a:pt x="255924" y="801673"/>
                </a:lnTo>
                <a:lnTo>
                  <a:pt x="243171" y="765375"/>
                </a:lnTo>
                <a:lnTo>
                  <a:pt x="214563" y="676690"/>
                </a:lnTo>
                <a:lnTo>
                  <a:pt x="191676" y="616613"/>
                </a:lnTo>
                <a:lnTo>
                  <a:pt x="185954" y="593726"/>
                </a:lnTo>
                <a:lnTo>
                  <a:pt x="177372" y="616613"/>
                </a:lnTo>
                <a:lnTo>
                  <a:pt x="154485" y="676690"/>
                </a:lnTo>
                <a:lnTo>
                  <a:pt x="125877" y="765375"/>
                </a:lnTo>
                <a:lnTo>
                  <a:pt x="114010" y="801965"/>
                </a:lnTo>
                <a:lnTo>
                  <a:pt x="111573" y="801027"/>
                </a:lnTo>
                <a:lnTo>
                  <a:pt x="82964" y="783862"/>
                </a:lnTo>
                <a:lnTo>
                  <a:pt x="54356" y="760976"/>
                </a:lnTo>
                <a:lnTo>
                  <a:pt x="34330" y="735229"/>
                </a:lnTo>
                <a:lnTo>
                  <a:pt x="14304" y="703760"/>
                </a:lnTo>
                <a:lnTo>
                  <a:pt x="2861" y="666569"/>
                </a:lnTo>
                <a:lnTo>
                  <a:pt x="0" y="629379"/>
                </a:lnTo>
                <a:lnTo>
                  <a:pt x="5722" y="575023"/>
                </a:lnTo>
                <a:lnTo>
                  <a:pt x="28609" y="489199"/>
                </a:lnTo>
                <a:lnTo>
                  <a:pt x="60078" y="386210"/>
                </a:lnTo>
                <a:lnTo>
                  <a:pt x="91547" y="277499"/>
                </a:lnTo>
                <a:lnTo>
                  <a:pt x="125877" y="171649"/>
                </a:lnTo>
                <a:lnTo>
                  <a:pt x="154485" y="82964"/>
                </a:lnTo>
                <a:lnTo>
                  <a:pt x="177372" y="22887"/>
                </a:lnTo>
                <a:close/>
              </a:path>
            </a:pathLst>
          </a:custGeom>
          <a:solidFill>
            <a:srgbClr val="57B4E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31" name="Google Shape;131;p16"/>
          <p:cNvGrpSpPr/>
          <p:nvPr/>
        </p:nvGrpSpPr>
        <p:grpSpPr>
          <a:xfrm>
            <a:off x="1247098" y="8039100"/>
            <a:ext cx="5586413" cy="1444752"/>
            <a:chOff x="5893593" y="2420888"/>
            <a:chExt cx="5586413" cy="1444752"/>
          </a:xfrm>
        </p:grpSpPr>
        <p:sp>
          <p:nvSpPr>
            <p:cNvPr id="132" name="Google Shape;132;p16"/>
            <p:cNvSpPr/>
            <p:nvPr/>
          </p:nvSpPr>
          <p:spPr>
            <a:xfrm>
              <a:off x="5893593" y="2420888"/>
              <a:ext cx="5586413" cy="1444752"/>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57B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 name="Google Shape;133;p16"/>
            <p:cNvSpPr/>
            <p:nvPr/>
          </p:nvSpPr>
          <p:spPr>
            <a:xfrm>
              <a:off x="6469379" y="2564904"/>
              <a:ext cx="4434840" cy="940350"/>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57B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 name="Google Shape;134;p16"/>
            <p:cNvSpPr/>
            <p:nvPr/>
          </p:nvSpPr>
          <p:spPr>
            <a:xfrm>
              <a:off x="7333487" y="2636912"/>
              <a:ext cx="2706624" cy="612648"/>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57B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mc:AlternateContent>
    <mc:Choice Requires="p14">
      <p:transition spd="slow" p14:dur="1500">
        <p:fade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descr="Forma&#10;&#10;Descripción generada automáticamente con confianza media" id="139" name="Google Shape;139;p17"/>
          <p:cNvSpPr/>
          <p:nvPr/>
        </p:nvSpPr>
        <p:spPr>
          <a:xfrm>
            <a:off x="-1" y="10298"/>
            <a:ext cx="3581401" cy="3581401"/>
          </a:xfrm>
          <a:prstGeom prst="rect">
            <a:avLst/>
          </a:prstGeom>
          <a:solidFill>
            <a:srgbClr val="FFFFFF"/>
          </a:solidFill>
          <a:ln>
            <a:noFill/>
          </a:ln>
        </p:spPr>
      </p:sp>
      <p:sp>
        <p:nvSpPr>
          <p:cNvPr id="140" name="Google Shape;140;p17"/>
          <p:cNvSpPr/>
          <p:nvPr/>
        </p:nvSpPr>
        <p:spPr>
          <a:xfrm flipH="1" rot="10800000">
            <a:off x="685800" y="3904068"/>
            <a:ext cx="9144000" cy="6372634"/>
          </a:xfrm>
          <a:prstGeom prst="bentArrow">
            <a:avLst>
              <a:gd fmla="val 11251" name="adj1"/>
              <a:gd fmla="val 25000" name="adj2"/>
              <a:gd fmla="val 25000" name="adj3"/>
              <a:gd fmla="val 43750" name="adj4"/>
            </a:avLst>
          </a:prstGeom>
          <a:blipFill rotWithShape="1">
            <a:blip r:embed="rId3">
              <a:alphaModFix/>
            </a:blip>
            <a:stretch>
              <a:fillRect b="0" l="0" r="0" t="0"/>
            </a:stretch>
          </a:blip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17"/>
          <p:cNvSpPr txBox="1"/>
          <p:nvPr/>
        </p:nvSpPr>
        <p:spPr>
          <a:xfrm>
            <a:off x="5181600" y="1276883"/>
            <a:ext cx="9296400" cy="15696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4800">
                <a:solidFill>
                  <a:srgbClr val="3A7D22"/>
                </a:solidFill>
                <a:latin typeface="Overlock"/>
                <a:ea typeface="Overlock"/>
                <a:cs typeface="Overlock"/>
                <a:sym typeface="Overlock"/>
              </a:rPr>
              <a:t>1.1.2. El informe </a:t>
            </a:r>
            <a:endParaRPr/>
          </a:p>
          <a:p>
            <a:pPr indent="0" lvl="0" marL="0" marR="0" rtl="0" algn="just">
              <a:spcBef>
                <a:spcPts val="0"/>
              </a:spcBef>
              <a:spcAft>
                <a:spcPts val="0"/>
              </a:spcAft>
              <a:buNone/>
            </a:pPr>
            <a:r>
              <a:rPr b="1" i="1" lang="es-ES" sz="4800">
                <a:solidFill>
                  <a:srgbClr val="3A7D22"/>
                </a:solidFill>
                <a:latin typeface="Overlock"/>
                <a:ea typeface="Overlock"/>
                <a:cs typeface="Overlock"/>
                <a:sym typeface="Overlock"/>
              </a:rPr>
              <a:t>Nuestro Futuro Común</a:t>
            </a:r>
            <a:endParaRPr sz="4800">
              <a:solidFill>
                <a:srgbClr val="3A7D22"/>
              </a:solidFill>
              <a:latin typeface="Overlock"/>
              <a:ea typeface="Overlock"/>
              <a:cs typeface="Overlock"/>
              <a:sym typeface="Overlock"/>
            </a:endParaRPr>
          </a:p>
        </p:txBody>
      </p:sp>
      <p:sp>
        <p:nvSpPr>
          <p:cNvPr id="142" name="Google Shape;142;p17"/>
          <p:cNvSpPr txBox="1"/>
          <p:nvPr/>
        </p:nvSpPr>
        <p:spPr>
          <a:xfrm>
            <a:off x="2743200" y="4441704"/>
            <a:ext cx="6705600" cy="27853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500">
                <a:solidFill>
                  <a:schemeClr val="accent4"/>
                </a:solidFill>
                <a:latin typeface="Arial"/>
                <a:ea typeface="Arial"/>
                <a:cs typeface="Arial"/>
                <a:sym typeface="Arial"/>
              </a:rPr>
              <a:t>la Organización de las Naciones Unidas (ONU) creó en 1983 la Comisión Mundial del Medioambiente y del Desarrollo, que presentó en 1987 el informe </a:t>
            </a:r>
            <a:r>
              <a:rPr i="1" lang="es-ES" sz="2500">
                <a:solidFill>
                  <a:schemeClr val="accent4"/>
                </a:solidFill>
                <a:latin typeface="Arial"/>
                <a:ea typeface="Arial"/>
                <a:cs typeface="Arial"/>
                <a:sym typeface="Arial"/>
              </a:rPr>
              <a:t>Nuestro futuro común, conocido también como </a:t>
            </a:r>
            <a:r>
              <a:rPr b="1" lang="es-ES" sz="2500">
                <a:solidFill>
                  <a:schemeClr val="accent4"/>
                </a:solidFill>
                <a:latin typeface="Arial"/>
                <a:ea typeface="Arial"/>
                <a:cs typeface="Arial"/>
                <a:sym typeface="Arial"/>
              </a:rPr>
              <a:t>Informe Brundtland</a:t>
            </a:r>
            <a:r>
              <a:rPr lang="es-ES" sz="2500">
                <a:solidFill>
                  <a:schemeClr val="accent4"/>
                </a:solidFill>
                <a:latin typeface="Arial"/>
                <a:ea typeface="Arial"/>
                <a:cs typeface="Arial"/>
                <a:sym typeface="Arial"/>
              </a:rPr>
              <a:t>. En este informe, se definió por primera vez el concepto de </a:t>
            </a:r>
            <a:r>
              <a:rPr i="1" lang="es-ES" sz="2500">
                <a:solidFill>
                  <a:schemeClr val="accent4"/>
                </a:solidFill>
                <a:latin typeface="Arial"/>
                <a:ea typeface="Arial"/>
                <a:cs typeface="Arial"/>
                <a:sym typeface="Arial"/>
              </a:rPr>
              <a:t>desarrollo sostenible</a:t>
            </a:r>
            <a:r>
              <a:rPr lang="es-ES" sz="2500">
                <a:solidFill>
                  <a:schemeClr val="accent4"/>
                </a:solidFill>
                <a:latin typeface="Arial"/>
                <a:ea typeface="Arial"/>
                <a:cs typeface="Arial"/>
                <a:sym typeface="Arial"/>
              </a:rPr>
              <a:t>.</a:t>
            </a:r>
            <a:endParaRPr sz="2500">
              <a:solidFill>
                <a:schemeClr val="accent4"/>
              </a:solidFill>
              <a:latin typeface="Arial"/>
              <a:ea typeface="Arial"/>
              <a:cs typeface="Arial"/>
              <a:sym typeface="Arial"/>
            </a:endParaRPr>
          </a:p>
        </p:txBody>
      </p:sp>
      <p:sp>
        <p:nvSpPr>
          <p:cNvPr id="143" name="Google Shape;143;p17"/>
          <p:cNvSpPr txBox="1"/>
          <p:nvPr/>
        </p:nvSpPr>
        <p:spPr>
          <a:xfrm>
            <a:off x="8686800" y="6896100"/>
            <a:ext cx="8686800" cy="2015936"/>
          </a:xfrm>
          <a:prstGeom prst="rect">
            <a:avLst/>
          </a:prstGeom>
          <a:noFill/>
          <a:ln>
            <a:noFill/>
          </a:ln>
        </p:spPr>
        <p:txBody>
          <a:bodyPr anchorCtr="0" anchor="t" bIns="45700" lIns="91425" spcFirstLastPara="1" rIns="91425" wrap="square" tIns="45700">
            <a:spAutoFit/>
          </a:bodyPr>
          <a:lstStyle/>
          <a:p>
            <a:pPr indent="0" lvl="0" marL="1257300" marR="0" rtl="0" algn="l">
              <a:spcBef>
                <a:spcPts val="0"/>
              </a:spcBef>
              <a:spcAft>
                <a:spcPts val="0"/>
              </a:spcAft>
              <a:buNone/>
            </a:pPr>
            <a:r>
              <a:rPr lang="es-ES" sz="2500">
                <a:solidFill>
                  <a:schemeClr val="dk1"/>
                </a:solidFill>
                <a:latin typeface="Arial"/>
                <a:ea typeface="Arial"/>
                <a:cs typeface="Arial"/>
                <a:sym typeface="Arial"/>
              </a:rPr>
              <a:t>La Asamblea General de las Naciones Unidas ha mantenido el </a:t>
            </a:r>
            <a:r>
              <a:rPr b="1" lang="es-ES" sz="2500">
                <a:solidFill>
                  <a:schemeClr val="dk1"/>
                </a:solidFill>
                <a:latin typeface="Arial"/>
                <a:ea typeface="Arial"/>
                <a:cs typeface="Arial"/>
                <a:sym typeface="Arial"/>
              </a:rPr>
              <a:t>desarrollo sostenible como</a:t>
            </a:r>
            <a:r>
              <a:rPr lang="es-ES" sz="2500">
                <a:solidFill>
                  <a:schemeClr val="dk1"/>
                </a:solidFill>
                <a:latin typeface="Arial"/>
                <a:ea typeface="Arial"/>
                <a:cs typeface="Arial"/>
                <a:sym typeface="Arial"/>
              </a:rPr>
              <a:t> </a:t>
            </a:r>
            <a:r>
              <a:rPr b="1" lang="es-ES" sz="2500">
                <a:solidFill>
                  <a:schemeClr val="dk1"/>
                </a:solidFill>
                <a:latin typeface="Arial"/>
                <a:ea typeface="Arial"/>
                <a:cs typeface="Arial"/>
                <a:sym typeface="Arial"/>
              </a:rPr>
              <a:t>principio rector para el desarrollo mundial a largo plazo</a:t>
            </a:r>
            <a:r>
              <a:rPr lang="es-ES" sz="2500">
                <a:solidFill>
                  <a:schemeClr val="dk1"/>
                </a:solidFill>
                <a:latin typeface="Arial"/>
                <a:ea typeface="Arial"/>
                <a:cs typeface="Arial"/>
                <a:sym typeface="Arial"/>
              </a:rPr>
              <a:t> y, sobre este principio, se han celebrado muchas cumbres y conferencias internacionales.</a:t>
            </a:r>
            <a:endParaRPr sz="2500">
              <a:solidFill>
                <a:schemeClr val="dk1"/>
              </a:solidFill>
              <a:latin typeface="Arial"/>
              <a:ea typeface="Arial"/>
              <a:cs typeface="Arial"/>
              <a:sym typeface="Arial"/>
            </a:endParaRPr>
          </a:p>
        </p:txBody>
      </p:sp>
      <p:pic>
        <p:nvPicPr>
          <p:cNvPr descr="Tres pinceles con un tubo de pintura y un brochazo de pintura" id="144" name="Google Shape;144;p17"/>
          <p:cNvPicPr preferRelativeResize="0"/>
          <p:nvPr/>
        </p:nvPicPr>
        <p:blipFill rotWithShape="1">
          <a:blip r:embed="rId4">
            <a:alphaModFix/>
          </a:blip>
          <a:srcRect b="0" l="0" r="0" t="0"/>
          <a:stretch/>
        </p:blipFill>
        <p:spPr>
          <a:xfrm>
            <a:off x="11337561" y="2346204"/>
            <a:ext cx="4191000" cy="419100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Un hombre con un bate en la mano&#10;&#10;Descripción generada automáticamente con confianza baja" id="149" name="Google Shape;149;p18"/>
          <p:cNvPicPr preferRelativeResize="0"/>
          <p:nvPr/>
        </p:nvPicPr>
        <p:blipFill rotWithShape="1">
          <a:blip r:embed="rId3">
            <a:alphaModFix/>
          </a:blip>
          <a:srcRect b="0" l="4855" r="4855" t="0"/>
          <a:stretch/>
        </p:blipFill>
        <p:spPr>
          <a:xfrm>
            <a:off x="10482262" y="3451583"/>
            <a:ext cx="7772400" cy="5746003"/>
          </a:xfrm>
          <a:custGeom>
            <a:rect b="b" l="l" r="r" t="t"/>
            <a:pathLst>
              <a:path extrusionOk="0" h="6871647" w="9276545">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a:noFill/>
          <a:ln>
            <a:noFill/>
          </a:ln>
        </p:spPr>
      </p:pic>
      <p:sp>
        <p:nvSpPr>
          <p:cNvPr id="150" name="Google Shape;150;p18"/>
          <p:cNvSpPr txBox="1"/>
          <p:nvPr/>
        </p:nvSpPr>
        <p:spPr>
          <a:xfrm>
            <a:off x="1609725" y="4331490"/>
            <a:ext cx="4572000" cy="954107"/>
          </a:xfrm>
          <a:prstGeom prst="rect">
            <a:avLst/>
          </a:prstGeom>
          <a:solidFill>
            <a:srgbClr val="FAF2E9"/>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lang="es-ES" sz="2800">
                <a:solidFill>
                  <a:schemeClr val="dk1"/>
                </a:solidFill>
                <a:latin typeface="Arial"/>
                <a:ea typeface="Arial"/>
                <a:cs typeface="Arial"/>
                <a:sym typeface="Arial"/>
              </a:rPr>
              <a:t>Los factores de producción interactuantes son cuatro: </a:t>
            </a:r>
            <a:endParaRPr b="0" sz="2800">
              <a:solidFill>
                <a:schemeClr val="dk1"/>
              </a:solidFill>
              <a:latin typeface="Arial"/>
              <a:ea typeface="Arial"/>
              <a:cs typeface="Arial"/>
              <a:sym typeface="Arial"/>
            </a:endParaRPr>
          </a:p>
        </p:txBody>
      </p:sp>
      <p:sp>
        <p:nvSpPr>
          <p:cNvPr id="151" name="Google Shape;151;p18"/>
          <p:cNvSpPr txBox="1"/>
          <p:nvPr/>
        </p:nvSpPr>
        <p:spPr>
          <a:xfrm>
            <a:off x="6187587" y="5288437"/>
            <a:ext cx="5195521" cy="2677656"/>
          </a:xfrm>
          <a:prstGeom prst="rect">
            <a:avLst/>
          </a:prstGeom>
          <a:solidFill>
            <a:srgbClr val="FAF2E9"/>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800"/>
              <a:buFont typeface="Arial"/>
              <a:buChar char="•"/>
            </a:pPr>
            <a:r>
              <a:rPr lang="es-ES" sz="2800">
                <a:solidFill>
                  <a:schemeClr val="dk1"/>
                </a:solidFill>
                <a:latin typeface="Arial"/>
                <a:ea typeface="Arial"/>
                <a:cs typeface="Arial"/>
                <a:sym typeface="Arial"/>
              </a:rPr>
              <a:t>Las materias primas (incluida la energía) </a:t>
            </a:r>
            <a:endParaRPr sz="2800">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pPr>
            <a:r>
              <a:rPr lang="es-ES" sz="2800">
                <a:solidFill>
                  <a:schemeClr val="dk1"/>
                </a:solidFill>
                <a:latin typeface="Arial"/>
                <a:ea typeface="Arial"/>
                <a:cs typeface="Arial"/>
                <a:sym typeface="Arial"/>
              </a:rPr>
              <a:t>Los medios de producción (máquinas, por ejemplo) </a:t>
            </a:r>
            <a:endParaRPr sz="2800">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pPr>
            <a:r>
              <a:rPr lang="es-ES" sz="2800">
                <a:solidFill>
                  <a:schemeClr val="dk1"/>
                </a:solidFill>
                <a:latin typeface="Arial"/>
                <a:ea typeface="Arial"/>
                <a:cs typeface="Arial"/>
                <a:sym typeface="Arial"/>
              </a:rPr>
              <a:t>Mano de obra  </a:t>
            </a:r>
            <a:endParaRPr sz="2800">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800"/>
              <a:buFont typeface="Arial"/>
              <a:buChar char="•"/>
            </a:pPr>
            <a:r>
              <a:rPr lang="es-ES" sz="2800">
                <a:solidFill>
                  <a:schemeClr val="dk1"/>
                </a:solidFill>
                <a:latin typeface="Arial"/>
                <a:ea typeface="Arial"/>
                <a:cs typeface="Arial"/>
                <a:sym typeface="Arial"/>
              </a:rPr>
              <a:t>Capital financiero</a:t>
            </a:r>
            <a:endParaRPr sz="2800">
              <a:solidFill>
                <a:schemeClr val="dk1"/>
              </a:solidFill>
              <a:latin typeface="Arial"/>
              <a:ea typeface="Arial"/>
              <a:cs typeface="Arial"/>
              <a:sym typeface="Arial"/>
            </a:endParaRPr>
          </a:p>
        </p:txBody>
      </p:sp>
      <p:sp>
        <p:nvSpPr>
          <p:cNvPr id="152" name="Google Shape;152;p18"/>
          <p:cNvSpPr txBox="1"/>
          <p:nvPr/>
        </p:nvSpPr>
        <p:spPr>
          <a:xfrm>
            <a:off x="1609724" y="1398012"/>
            <a:ext cx="5195521" cy="1815882"/>
          </a:xfrm>
          <a:prstGeom prst="rect">
            <a:avLst/>
          </a:prstGeom>
          <a:solidFill>
            <a:schemeClr val="accent1">
              <a:alpha val="49803"/>
            </a:schemeClr>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lang="es-ES" sz="2800">
                <a:solidFill>
                  <a:srgbClr val="FFFF00"/>
                </a:solidFill>
                <a:latin typeface="Arial"/>
                <a:ea typeface="Arial"/>
                <a:cs typeface="Arial"/>
                <a:sym typeface="Arial"/>
              </a:rPr>
              <a:t>Sistema productivo: </a:t>
            </a:r>
            <a:endParaRPr/>
          </a:p>
          <a:p>
            <a:pPr indent="0" lvl="0" marL="0" marR="0" rtl="0" algn="l">
              <a:lnSpc>
                <a:spcPct val="100000"/>
              </a:lnSpc>
              <a:spcBef>
                <a:spcPts val="0"/>
              </a:spcBef>
              <a:spcAft>
                <a:spcPts val="0"/>
              </a:spcAft>
              <a:buNone/>
            </a:pPr>
            <a:r>
              <a:rPr b="0" lang="es-ES" sz="2800">
                <a:solidFill>
                  <a:srgbClr val="FFFF00"/>
                </a:solidFill>
                <a:latin typeface="Arial"/>
                <a:ea typeface="Arial"/>
                <a:cs typeface="Arial"/>
                <a:sym typeface="Arial"/>
              </a:rPr>
              <a:t>conjunto de factores para crear productos y servicios que se venden en el mercado</a:t>
            </a:r>
            <a:r>
              <a:rPr lang="es-ES" sz="2800">
                <a:solidFill>
                  <a:srgbClr val="FFFF00"/>
                </a:solidFill>
                <a:latin typeface="Arial"/>
                <a:ea typeface="Arial"/>
                <a:cs typeface="Arial"/>
                <a:sym typeface="Arial"/>
              </a:rPr>
              <a:t>.</a:t>
            </a:r>
            <a:endParaRPr sz="2800">
              <a:solidFill>
                <a:srgbClr val="FFFF00"/>
              </a:solidFill>
              <a:latin typeface="Arial"/>
              <a:ea typeface="Arial"/>
              <a:cs typeface="Arial"/>
              <a:sym typeface="Arial"/>
            </a:endParaRPr>
          </a:p>
        </p:txBody>
      </p:sp>
      <p:sp>
        <p:nvSpPr>
          <p:cNvPr id="153" name="Google Shape;153;p18"/>
          <p:cNvSpPr txBox="1"/>
          <p:nvPr/>
        </p:nvSpPr>
        <p:spPr>
          <a:xfrm>
            <a:off x="8458200" y="1382855"/>
            <a:ext cx="8991600" cy="1920526"/>
          </a:xfrm>
          <a:prstGeom prst="rect">
            <a:avLst/>
          </a:prstGeom>
          <a:noFill/>
          <a:ln>
            <a:noFill/>
          </a:ln>
        </p:spPr>
        <p:txBody>
          <a:bodyPr anchorCtr="0" anchor="t" bIns="45700" lIns="91425" spcFirstLastPara="1" rIns="91425" wrap="square" tIns="45700">
            <a:spAutoFit/>
          </a:bodyPr>
          <a:lstStyle/>
          <a:p>
            <a:pPr indent="0" lvl="1" marL="457200" marR="0" rtl="0" algn="l">
              <a:lnSpc>
                <a:spcPct val="90000"/>
              </a:lnSpc>
              <a:spcBef>
                <a:spcPts val="0"/>
              </a:spcBef>
              <a:spcAft>
                <a:spcPts val="0"/>
              </a:spcAft>
              <a:buNone/>
            </a:pPr>
            <a:r>
              <a:rPr b="0" i="0" lang="es-ES" sz="4400" u="none" cap="none" strike="noStrike">
                <a:solidFill>
                  <a:srgbClr val="317F54"/>
                </a:solidFill>
                <a:latin typeface="Overlock"/>
                <a:ea typeface="Overlock"/>
                <a:cs typeface="Overlock"/>
                <a:sym typeface="Overlock"/>
              </a:rPr>
              <a:t>1.2.  El sistema productivo clásico: la economía de mercado y la globalización</a:t>
            </a:r>
            <a:endParaRPr/>
          </a:p>
        </p:txBody>
      </p:sp>
      <p:pic>
        <p:nvPicPr>
          <p:cNvPr descr="Piedra" id="154" name="Google Shape;154;p18"/>
          <p:cNvPicPr preferRelativeResize="0"/>
          <p:nvPr/>
        </p:nvPicPr>
        <p:blipFill rotWithShape="1">
          <a:blip r:embed="rId4">
            <a:alphaModFix/>
          </a:blip>
          <a:srcRect b="0" l="0" r="0" t="0"/>
          <a:stretch/>
        </p:blipFill>
        <p:spPr>
          <a:xfrm>
            <a:off x="1216413" y="6351794"/>
            <a:ext cx="4344794" cy="2532431"/>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Códigos en papeles" id="159" name="Google Shape;159;p19"/>
          <p:cNvPicPr preferRelativeResize="0"/>
          <p:nvPr/>
        </p:nvPicPr>
        <p:blipFill rotWithShape="1">
          <a:blip r:embed="rId3">
            <a:alphaModFix/>
          </a:blip>
          <a:srcRect b="0" l="30550" r="28604" t="0"/>
          <a:stretch/>
        </p:blipFill>
        <p:spPr>
          <a:xfrm>
            <a:off x="21078" y="352"/>
            <a:ext cx="6294744" cy="10286990"/>
          </a:xfrm>
          <a:prstGeom prst="rect">
            <a:avLst/>
          </a:prstGeom>
          <a:noFill/>
          <a:ln>
            <a:noFill/>
          </a:ln>
        </p:spPr>
      </p:pic>
      <p:sp>
        <p:nvSpPr>
          <p:cNvPr id="160" name="Google Shape;160;p19"/>
          <p:cNvSpPr txBox="1"/>
          <p:nvPr/>
        </p:nvSpPr>
        <p:spPr>
          <a:xfrm>
            <a:off x="6830601" y="342464"/>
            <a:ext cx="10197812" cy="251343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lang="es-ES" sz="5400">
                <a:solidFill>
                  <a:srgbClr val="317F54"/>
                </a:solidFill>
                <a:latin typeface="Overlock"/>
                <a:ea typeface="Overlock"/>
                <a:cs typeface="Overlock"/>
                <a:sym typeface="Overlock"/>
              </a:rPr>
              <a:t>1.2.1. La ley oferta-demanda y la economía de mercado</a:t>
            </a:r>
            <a:endParaRPr/>
          </a:p>
        </p:txBody>
      </p:sp>
      <p:sp>
        <p:nvSpPr>
          <p:cNvPr id="161" name="Google Shape;161;p19"/>
          <p:cNvSpPr txBox="1"/>
          <p:nvPr/>
        </p:nvSpPr>
        <p:spPr>
          <a:xfrm>
            <a:off x="6934200" y="5132439"/>
            <a:ext cx="9376665" cy="1752600"/>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None/>
            </a:pPr>
            <a:r>
              <a:rPr b="1" lang="es-ES" sz="2800">
                <a:solidFill>
                  <a:schemeClr val="dk1"/>
                </a:solidFill>
                <a:latin typeface="Arial"/>
                <a:ea typeface="Arial"/>
                <a:cs typeface="Arial"/>
                <a:sym typeface="Arial"/>
              </a:rPr>
              <a:t>Idealmente, </a:t>
            </a:r>
            <a:r>
              <a:rPr lang="es-ES" sz="2800">
                <a:solidFill>
                  <a:schemeClr val="dk1"/>
                </a:solidFill>
                <a:latin typeface="Arial"/>
                <a:ea typeface="Arial"/>
                <a:cs typeface="Arial"/>
                <a:sym typeface="Arial"/>
              </a:rPr>
              <a:t>la acción combinada de la oferta y la demanda en el mercado termina por organizar tanto la producción como el consumo de bienes y servicios. Por ello, se dice que el sistema productivo funciona dentro de una </a:t>
            </a:r>
            <a:r>
              <a:rPr i="1" lang="es-ES" sz="2800">
                <a:solidFill>
                  <a:schemeClr val="dk1"/>
                </a:solidFill>
                <a:latin typeface="Arial"/>
                <a:ea typeface="Arial"/>
                <a:cs typeface="Arial"/>
                <a:sym typeface="Arial"/>
              </a:rPr>
              <a:t>economía de mercado.</a:t>
            </a:r>
            <a:endParaRPr sz="2800">
              <a:solidFill>
                <a:schemeClr val="dk1"/>
              </a:solidFill>
              <a:latin typeface="Arial"/>
              <a:ea typeface="Arial"/>
              <a:cs typeface="Arial"/>
              <a:sym typeface="Arial"/>
            </a:endParaRPr>
          </a:p>
        </p:txBody>
      </p:sp>
      <p:sp>
        <p:nvSpPr>
          <p:cNvPr id="162" name="Google Shape;162;p19"/>
          <p:cNvSpPr txBox="1"/>
          <p:nvPr/>
        </p:nvSpPr>
        <p:spPr>
          <a:xfrm>
            <a:off x="6838499" y="3292922"/>
            <a:ext cx="9933399" cy="175260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2800">
                <a:solidFill>
                  <a:schemeClr val="dk1"/>
                </a:solidFill>
                <a:latin typeface="Arial"/>
                <a:ea typeface="Arial"/>
                <a:cs typeface="Arial"/>
                <a:sym typeface="Arial"/>
              </a:rPr>
              <a:t>La demanda es la cantidad de dichos bienes y servicios que se desean adquirir, mientras que la oferta es la cantidad de bienes y servicios que se ponen en venta.</a:t>
            </a:r>
            <a:endParaRPr/>
          </a:p>
        </p:txBody>
      </p:sp>
      <p:grpSp>
        <p:nvGrpSpPr>
          <p:cNvPr id="163" name="Google Shape;163;p19"/>
          <p:cNvGrpSpPr/>
          <p:nvPr/>
        </p:nvGrpSpPr>
        <p:grpSpPr>
          <a:xfrm rot="2312758">
            <a:off x="9546913" y="6848039"/>
            <a:ext cx="2568495" cy="2191277"/>
            <a:chOff x="5893593" y="2420888"/>
            <a:chExt cx="5586413" cy="1444752"/>
          </a:xfrm>
        </p:grpSpPr>
        <p:sp>
          <p:nvSpPr>
            <p:cNvPr id="164" name="Google Shape;164;p19"/>
            <p:cNvSpPr/>
            <p:nvPr/>
          </p:nvSpPr>
          <p:spPr>
            <a:xfrm>
              <a:off x="5893593" y="2420888"/>
              <a:ext cx="5586413" cy="1444752"/>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5" name="Google Shape;165;p19"/>
            <p:cNvSpPr/>
            <p:nvPr/>
          </p:nvSpPr>
          <p:spPr>
            <a:xfrm>
              <a:off x="6469379" y="2564904"/>
              <a:ext cx="4434840" cy="940350"/>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 name="Google Shape;166;p19"/>
            <p:cNvSpPr/>
            <p:nvPr/>
          </p:nvSpPr>
          <p:spPr>
            <a:xfrm>
              <a:off x="7333487" y="2636912"/>
              <a:ext cx="2706624" cy="612648"/>
            </a:xfrm>
            <a:custGeom>
              <a:rect b="b" l="l" r="r" t="t"/>
              <a:pathLst>
                <a:path extrusionOk="0" h="1401186" w="5586413">
                  <a:moveTo>
                    <a:pt x="1803302" y="2444"/>
                  </a:moveTo>
                  <a:lnTo>
                    <a:pt x="1379973" y="58271"/>
                  </a:lnTo>
                  <a:cubicBezTo>
                    <a:pt x="707612" y="168637"/>
                    <a:pt x="265552" y="355538"/>
                    <a:pt x="265552" y="567523"/>
                  </a:cubicBezTo>
                  <a:cubicBezTo>
                    <a:pt x="265552" y="906702"/>
                    <a:pt x="1397223" y="1181660"/>
                    <a:pt x="2793209" y="1181660"/>
                  </a:cubicBezTo>
                  <a:cubicBezTo>
                    <a:pt x="4189194" y="1181660"/>
                    <a:pt x="5320865" y="906702"/>
                    <a:pt x="5320865" y="567523"/>
                  </a:cubicBezTo>
                  <a:cubicBezTo>
                    <a:pt x="5320865" y="355538"/>
                    <a:pt x="4878807" y="168637"/>
                    <a:pt x="4206445" y="58271"/>
                  </a:cubicBezTo>
                  <a:lnTo>
                    <a:pt x="3783122" y="2444"/>
                  </a:lnTo>
                  <a:lnTo>
                    <a:pt x="3880450" y="10274"/>
                  </a:lnTo>
                  <a:cubicBezTo>
                    <a:pt x="4882973" y="120168"/>
                    <a:pt x="5586413" y="377438"/>
                    <a:pt x="5586413" y="677286"/>
                  </a:cubicBezTo>
                  <a:cubicBezTo>
                    <a:pt x="5586413" y="1077084"/>
                    <a:pt x="4335853" y="1401186"/>
                    <a:pt x="2793207" y="1401186"/>
                  </a:cubicBezTo>
                  <a:cubicBezTo>
                    <a:pt x="1250561" y="1401186"/>
                    <a:pt x="0" y="1077084"/>
                    <a:pt x="0" y="677286"/>
                  </a:cubicBezTo>
                  <a:cubicBezTo>
                    <a:pt x="0" y="377438"/>
                    <a:pt x="703441" y="120168"/>
                    <a:pt x="1705964" y="10274"/>
                  </a:cubicBezTo>
                  <a:close/>
                  <a:moveTo>
                    <a:pt x="1831181" y="1"/>
                  </a:moveTo>
                  <a:lnTo>
                    <a:pt x="1831181" y="201"/>
                  </a:lnTo>
                  <a:lnTo>
                    <a:pt x="1803302" y="2444"/>
                  </a:lnTo>
                  <a:lnTo>
                    <a:pt x="1809330" y="1648"/>
                  </a:lnTo>
                  <a:close/>
                  <a:moveTo>
                    <a:pt x="3755231" y="0"/>
                  </a:moveTo>
                  <a:lnTo>
                    <a:pt x="3777087" y="1648"/>
                  </a:lnTo>
                  <a:lnTo>
                    <a:pt x="3783122" y="2444"/>
                  </a:lnTo>
                  <a:lnTo>
                    <a:pt x="3755231" y="201"/>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mc:AlternateContent>
    <mc:Choice Requires="p14">
      <p:transition spd="slow" p14:dur="1500">
        <p:fade thruBlk="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pSp>
        <p:nvGrpSpPr>
          <p:cNvPr id="171" name="Google Shape;171;p20"/>
          <p:cNvGrpSpPr/>
          <p:nvPr/>
        </p:nvGrpSpPr>
        <p:grpSpPr>
          <a:xfrm>
            <a:off x="228600" y="427328"/>
            <a:ext cx="10943206" cy="9050982"/>
            <a:chOff x="0" y="8228"/>
            <a:chExt cx="10943206" cy="9050982"/>
          </a:xfrm>
        </p:grpSpPr>
        <p:sp>
          <p:nvSpPr>
            <p:cNvPr id="172" name="Google Shape;172;p20"/>
            <p:cNvSpPr/>
            <p:nvPr/>
          </p:nvSpPr>
          <p:spPr>
            <a:xfrm>
              <a:off x="0" y="8228"/>
              <a:ext cx="10943206" cy="2594702"/>
            </a:xfrm>
            <a:prstGeom prst="roundRect">
              <a:avLst>
                <a:gd fmla="val 10000" name="adj"/>
              </a:avLst>
            </a:prstGeom>
            <a:solidFill>
              <a:srgbClr val="F6D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0"/>
            <p:cNvSpPr/>
            <p:nvPr/>
          </p:nvSpPr>
          <p:spPr>
            <a:xfrm>
              <a:off x="784897" y="592036"/>
              <a:ext cx="1428481" cy="1427086"/>
            </a:xfrm>
            <a:prstGeom prst="rect">
              <a:avLst/>
            </a:prstGeom>
            <a:blipFill rotWithShape="1">
              <a:blip r:embed="rId3">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0"/>
            <p:cNvSpPr/>
            <p:nvPr/>
          </p:nvSpPr>
          <p:spPr>
            <a:xfrm>
              <a:off x="2998276" y="8228"/>
              <a:ext cx="7827459" cy="259723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txBox="1"/>
            <p:nvPr/>
          </p:nvSpPr>
          <p:spPr>
            <a:xfrm>
              <a:off x="2998276" y="8228"/>
              <a:ext cx="7827459" cy="2597238"/>
            </a:xfrm>
            <a:prstGeom prst="rect">
              <a:avLst/>
            </a:prstGeom>
            <a:noFill/>
            <a:ln>
              <a:noFill/>
            </a:ln>
          </p:spPr>
          <p:txBody>
            <a:bodyPr anchorCtr="0" anchor="ctr" bIns="274850" lIns="274850" spcFirstLastPara="1" rIns="274850" wrap="square" tIns="274850">
              <a:noAutofit/>
            </a:bodyPr>
            <a:lstStyle/>
            <a:p>
              <a:pPr indent="0" lvl="0" marL="0" marR="0" rtl="0" algn="l">
                <a:lnSpc>
                  <a:spcPct val="100000"/>
                </a:lnSpc>
                <a:spcBef>
                  <a:spcPts val="0"/>
                </a:spcBef>
                <a:spcAft>
                  <a:spcPts val="0"/>
                </a:spcAft>
                <a:buClr>
                  <a:schemeClr val="dk1"/>
                </a:buClr>
                <a:buSzPts val="2800"/>
                <a:buFont typeface="Arial"/>
                <a:buNone/>
              </a:pPr>
              <a:r>
                <a:rPr lang="es-ES" sz="2800">
                  <a:solidFill>
                    <a:schemeClr val="dk1"/>
                  </a:solidFill>
                  <a:latin typeface="Arial"/>
                  <a:ea typeface="Arial"/>
                  <a:cs typeface="Arial"/>
                  <a:sym typeface="Arial"/>
                </a:rPr>
                <a:t>La oferta y demanda regulan los mercados de forma imperfecta, ya que los consumidores desconocen la totalidad de la oferta y no saben dónde encontrar los precios más ventajosos.</a:t>
              </a:r>
              <a:endParaRPr/>
            </a:p>
          </p:txBody>
        </p:sp>
        <p:sp>
          <p:nvSpPr>
            <p:cNvPr id="176" name="Google Shape;176;p20"/>
            <p:cNvSpPr/>
            <p:nvPr/>
          </p:nvSpPr>
          <p:spPr>
            <a:xfrm>
              <a:off x="0" y="3235100"/>
              <a:ext cx="10943206" cy="2594702"/>
            </a:xfrm>
            <a:prstGeom prst="roundRect">
              <a:avLst>
                <a:gd fmla="val 10000" name="adj"/>
              </a:avLst>
            </a:prstGeom>
            <a:solidFill>
              <a:srgbClr val="F6D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p:nvPr/>
          </p:nvSpPr>
          <p:spPr>
            <a:xfrm>
              <a:off x="784897" y="3818908"/>
              <a:ext cx="1428481" cy="1427086"/>
            </a:xfrm>
            <a:prstGeom prst="rect">
              <a:avLst/>
            </a:prstGeom>
            <a:blipFill rotWithShape="1">
              <a:blip r:embed="rId4">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2998276" y="3235100"/>
              <a:ext cx="7827459" cy="259723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0"/>
            <p:cNvSpPr txBox="1"/>
            <p:nvPr/>
          </p:nvSpPr>
          <p:spPr>
            <a:xfrm>
              <a:off x="2998276" y="3235100"/>
              <a:ext cx="7827459" cy="2597238"/>
            </a:xfrm>
            <a:prstGeom prst="rect">
              <a:avLst/>
            </a:prstGeom>
            <a:noFill/>
            <a:ln>
              <a:noFill/>
            </a:ln>
          </p:spPr>
          <p:txBody>
            <a:bodyPr anchorCtr="0" anchor="ctr" bIns="274850" lIns="274850" spcFirstLastPara="1" rIns="274850" wrap="square" tIns="274850">
              <a:noAutofit/>
            </a:bodyPr>
            <a:lstStyle/>
            <a:p>
              <a:pPr indent="0" lvl="0" marL="0" marR="0" rtl="0" algn="l">
                <a:lnSpc>
                  <a:spcPct val="100000"/>
                </a:lnSpc>
                <a:spcBef>
                  <a:spcPts val="0"/>
                </a:spcBef>
                <a:spcAft>
                  <a:spcPts val="0"/>
                </a:spcAft>
                <a:buClr>
                  <a:schemeClr val="dk1"/>
                </a:buClr>
                <a:buSzPts val="2800"/>
                <a:buFont typeface="Arial"/>
                <a:buNone/>
              </a:pPr>
              <a:r>
                <a:rPr lang="es-ES" sz="2800">
                  <a:solidFill>
                    <a:schemeClr val="dk1"/>
                  </a:solidFill>
                  <a:latin typeface="Arial"/>
                  <a:ea typeface="Arial"/>
                  <a:cs typeface="Arial"/>
                  <a:sym typeface="Arial"/>
                </a:rPr>
                <a:t>Las empresas de forma legítima intentan maximizar sus ganancias, pero el interés de la sociedad es acceder a un precio justo por lo que recibe a nivel de alimentación, energía, sanidad, educación…</a:t>
              </a:r>
              <a:endParaRPr/>
            </a:p>
          </p:txBody>
        </p:sp>
        <p:sp>
          <p:nvSpPr>
            <p:cNvPr id="180" name="Google Shape;180;p20"/>
            <p:cNvSpPr/>
            <p:nvPr/>
          </p:nvSpPr>
          <p:spPr>
            <a:xfrm>
              <a:off x="0" y="6461972"/>
              <a:ext cx="10943206" cy="2594702"/>
            </a:xfrm>
            <a:prstGeom prst="roundRect">
              <a:avLst>
                <a:gd fmla="val 10000" name="adj"/>
              </a:avLst>
            </a:prstGeom>
            <a:solidFill>
              <a:srgbClr val="F6D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p:nvPr/>
          </p:nvSpPr>
          <p:spPr>
            <a:xfrm>
              <a:off x="784897" y="7045780"/>
              <a:ext cx="1428481" cy="1427086"/>
            </a:xfrm>
            <a:prstGeom prst="rect">
              <a:avLst/>
            </a:prstGeom>
            <a:blipFill rotWithShape="1">
              <a:blip r:embed="rId5">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
            <p:cNvSpPr/>
            <p:nvPr/>
          </p:nvSpPr>
          <p:spPr>
            <a:xfrm>
              <a:off x="2998276" y="6461972"/>
              <a:ext cx="7827459" cy="259723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0"/>
            <p:cNvSpPr txBox="1"/>
            <p:nvPr/>
          </p:nvSpPr>
          <p:spPr>
            <a:xfrm>
              <a:off x="2998276" y="6461972"/>
              <a:ext cx="7827459" cy="2597238"/>
            </a:xfrm>
            <a:prstGeom prst="rect">
              <a:avLst/>
            </a:prstGeom>
            <a:noFill/>
            <a:ln>
              <a:noFill/>
            </a:ln>
          </p:spPr>
          <p:txBody>
            <a:bodyPr anchorCtr="0" anchor="ctr" bIns="274850" lIns="274850" spcFirstLastPara="1" rIns="274850" wrap="square" tIns="274850">
              <a:noAutofit/>
            </a:bodyPr>
            <a:lstStyle/>
            <a:p>
              <a:pPr indent="0" lvl="0" marL="0" marR="0" rtl="0" algn="l">
                <a:lnSpc>
                  <a:spcPct val="100000"/>
                </a:lnSpc>
                <a:spcBef>
                  <a:spcPts val="0"/>
                </a:spcBef>
                <a:spcAft>
                  <a:spcPts val="0"/>
                </a:spcAft>
                <a:buClr>
                  <a:schemeClr val="dk1"/>
                </a:buClr>
                <a:buSzPts val="2800"/>
                <a:buFont typeface="Arial"/>
                <a:buNone/>
              </a:pPr>
              <a:r>
                <a:rPr lang="es-ES" sz="2800">
                  <a:solidFill>
                    <a:schemeClr val="dk1"/>
                  </a:solidFill>
                  <a:latin typeface="Arial"/>
                  <a:ea typeface="Arial"/>
                  <a:cs typeface="Arial"/>
                  <a:sym typeface="Arial"/>
                </a:rPr>
                <a:t>Los Gobiernos y las organizaciones supranacionales han desarrollado una normativa regulatoria del mercado, que unos consideran excesiva y otros insuficiente. </a:t>
              </a:r>
              <a:endParaRPr/>
            </a:p>
          </p:txBody>
        </p:sp>
      </p:grpSp>
      <p:sp>
        <p:nvSpPr>
          <p:cNvPr id="184" name="Google Shape;184;p20"/>
          <p:cNvSpPr txBox="1"/>
          <p:nvPr/>
        </p:nvSpPr>
        <p:spPr>
          <a:xfrm>
            <a:off x="12168943" y="1333500"/>
            <a:ext cx="5349246" cy="2015936"/>
          </a:xfrm>
          <a:prstGeom prst="rect">
            <a:avLst/>
          </a:prstGeom>
          <a:noFill/>
          <a:ln>
            <a:noFill/>
          </a:ln>
        </p:spPr>
        <p:txBody>
          <a:bodyPr anchorCtr="0" anchor="t" bIns="45700" lIns="91425" spcFirstLastPara="1" rIns="91425" wrap="square" tIns="45700">
            <a:spAutoFit/>
          </a:bodyPr>
          <a:lstStyle/>
          <a:p>
            <a:pPr indent="0" lvl="0" marL="0" marR="0" rtl="0" algn="l">
              <a:lnSpc>
                <a:spcPct val="104166"/>
              </a:lnSpc>
              <a:spcBef>
                <a:spcPts val="0"/>
              </a:spcBef>
              <a:spcAft>
                <a:spcPts val="0"/>
              </a:spcAft>
              <a:buNone/>
            </a:pPr>
            <a:r>
              <a:rPr lang="es-ES" sz="1800">
                <a:solidFill>
                  <a:srgbClr val="3A7D22"/>
                </a:solidFill>
                <a:latin typeface="Times New Roman"/>
                <a:ea typeface="Times New Roman"/>
                <a:cs typeface="Times New Roman"/>
                <a:sym typeface="Times New Roman"/>
              </a:rPr>
              <a:t> </a:t>
            </a:r>
            <a:r>
              <a:rPr lang="es-ES" sz="4800">
                <a:solidFill>
                  <a:srgbClr val="317F54"/>
                </a:solidFill>
                <a:latin typeface="Overlock"/>
                <a:ea typeface="Overlock"/>
                <a:cs typeface="Overlock"/>
                <a:sym typeface="Overlock"/>
              </a:rPr>
              <a:t>1.2.2. La regulación imperfecta del mercado</a:t>
            </a:r>
            <a:endParaRPr/>
          </a:p>
        </p:txBody>
      </p:sp>
      <p:pic>
        <p:nvPicPr>
          <p:cNvPr id="185" name="Google Shape;185;p20"/>
          <p:cNvPicPr preferRelativeResize="0"/>
          <p:nvPr/>
        </p:nvPicPr>
        <p:blipFill rotWithShape="1">
          <a:blip r:embed="rId6">
            <a:alphaModFix/>
          </a:blip>
          <a:srcRect b="0" l="0" r="0" t="0"/>
          <a:stretch/>
        </p:blipFill>
        <p:spPr>
          <a:xfrm>
            <a:off x="12801600" y="4838700"/>
            <a:ext cx="2789390" cy="2629080"/>
          </a:xfrm>
          <a:prstGeom prst="rect">
            <a:avLst/>
          </a:prstGeom>
          <a:noFill/>
          <a:ln>
            <a:noFill/>
          </a:ln>
          <a:effectLst>
            <a:outerShdw blurRad="50800" rotWithShape="0" algn="ctr" dir="5400000" dist="50800">
              <a:srgbClr val="3A3A3A"/>
            </a:outerShdw>
          </a:effectLst>
        </p:spPr>
      </p:pic>
      <p:cxnSp>
        <p:nvCxnSpPr>
          <p:cNvPr id="186" name="Google Shape;186;p20"/>
          <p:cNvCxnSpPr/>
          <p:nvPr/>
        </p:nvCxnSpPr>
        <p:spPr>
          <a:xfrm>
            <a:off x="7363715" y="3349436"/>
            <a:ext cx="9610500" cy="4601400"/>
          </a:xfrm>
          <a:prstGeom prst="bentConnector3">
            <a:avLst>
              <a:gd fmla="val 50000" name="adj1"/>
            </a:avLst>
          </a:prstGeom>
          <a:noFill/>
          <a:ln cap="flat" cmpd="sng" w="57150">
            <a:solidFill>
              <a:srgbClr val="FF0000"/>
            </a:solidFill>
            <a:prstDash val="solid"/>
            <a:miter lim="800000"/>
            <a:headEnd len="sm" w="sm" type="none"/>
            <a:tailEnd len="sm" w="sm" type="none"/>
          </a:ln>
        </p:spPr>
      </p:cxnSp>
    </p:spTree>
  </p:cSld>
  <p:clrMapOvr>
    <a:masterClrMapping/>
  </p:clrMapOvr>
  <mc:AlternateContent>
    <mc:Choice Requires="p14">
      <p:transition spd="slow" p14:dur="1500">
        <p:fade thruBlk="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nvSpPr>
        <p:spPr>
          <a:xfrm>
            <a:off x="1786146" y="428815"/>
            <a:ext cx="7205454" cy="196749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lang="es-ES" sz="5400">
                <a:solidFill>
                  <a:srgbClr val="317F54"/>
                </a:solidFill>
                <a:latin typeface="Overlock"/>
                <a:ea typeface="Overlock"/>
                <a:cs typeface="Overlock"/>
                <a:sym typeface="Overlock"/>
              </a:rPr>
              <a:t>1.2.3. Un mercado a </a:t>
            </a:r>
            <a:endParaRPr/>
          </a:p>
          <a:p>
            <a:pPr indent="0" lvl="0" marL="0" marR="0" rtl="0" algn="l">
              <a:lnSpc>
                <a:spcPct val="90000"/>
              </a:lnSpc>
              <a:spcBef>
                <a:spcPts val="600"/>
              </a:spcBef>
              <a:spcAft>
                <a:spcPts val="0"/>
              </a:spcAft>
              <a:buNone/>
            </a:pPr>
            <a:r>
              <a:rPr lang="es-ES" sz="5400">
                <a:solidFill>
                  <a:srgbClr val="317F54"/>
                </a:solidFill>
                <a:latin typeface="Overlock"/>
                <a:ea typeface="Overlock"/>
                <a:cs typeface="Overlock"/>
                <a:sym typeface="Overlock"/>
              </a:rPr>
              <a:t>escala global</a:t>
            </a:r>
            <a:endParaRPr/>
          </a:p>
        </p:txBody>
      </p:sp>
      <p:sp>
        <p:nvSpPr>
          <p:cNvPr id="192" name="Google Shape;192;p21"/>
          <p:cNvSpPr txBox="1"/>
          <p:nvPr/>
        </p:nvSpPr>
        <p:spPr>
          <a:xfrm>
            <a:off x="8991600" y="4610100"/>
            <a:ext cx="8422672" cy="4264337"/>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90000"/>
              </a:lnSpc>
              <a:spcBef>
                <a:spcPts val="0"/>
              </a:spcBef>
              <a:spcAft>
                <a:spcPts val="0"/>
              </a:spcAft>
              <a:buNone/>
            </a:pPr>
            <a:r>
              <a:rPr b="0" i="0" lang="es-ES" sz="2800">
                <a:solidFill>
                  <a:schemeClr val="dk1"/>
                </a:solidFill>
                <a:highlight>
                  <a:srgbClr val="FAF2E9"/>
                </a:highlight>
                <a:latin typeface="Arial"/>
                <a:ea typeface="Arial"/>
                <a:cs typeface="Arial"/>
                <a:sym typeface="Arial"/>
              </a:rPr>
              <a:t>La globalización económica se ha logrado gracias a avances tecnológicos y al impulso de la Organización Mundial del Comercio (OMC), cuyo objetivo es facilitar el comercio exterior para favorecer el crecimiento económico mundial. </a:t>
            </a:r>
            <a:endParaRPr/>
          </a:p>
          <a:p>
            <a:pPr indent="0" lvl="0" marL="0" marR="0" rtl="0" algn="l">
              <a:lnSpc>
                <a:spcPct val="90000"/>
              </a:lnSpc>
              <a:spcBef>
                <a:spcPts val="600"/>
              </a:spcBef>
              <a:spcAft>
                <a:spcPts val="0"/>
              </a:spcAft>
              <a:buNone/>
            </a:pPr>
            <a:r>
              <a:t/>
            </a:r>
            <a:endParaRPr b="0" i="0" sz="2800">
              <a:solidFill>
                <a:schemeClr val="dk2"/>
              </a:solidFill>
              <a:highlight>
                <a:srgbClr val="FAF2E9"/>
              </a:highlight>
              <a:latin typeface="Arial"/>
              <a:ea typeface="Arial"/>
              <a:cs typeface="Arial"/>
              <a:sym typeface="Arial"/>
            </a:endParaRPr>
          </a:p>
          <a:p>
            <a:pPr indent="0" lvl="0" marL="0" marR="0" rtl="0" algn="l">
              <a:lnSpc>
                <a:spcPct val="90000"/>
              </a:lnSpc>
              <a:spcBef>
                <a:spcPts val="600"/>
              </a:spcBef>
              <a:spcAft>
                <a:spcPts val="0"/>
              </a:spcAft>
              <a:buNone/>
            </a:pPr>
            <a:r>
              <a:rPr b="0" i="0" lang="es-ES" sz="2800">
                <a:solidFill>
                  <a:schemeClr val="dk2"/>
                </a:solidFill>
                <a:highlight>
                  <a:srgbClr val="FAF2E9"/>
                </a:highlight>
                <a:latin typeface="Arial"/>
                <a:ea typeface="Arial"/>
                <a:cs typeface="Arial"/>
                <a:sym typeface="Arial"/>
              </a:rPr>
              <a:t>El PIB mundial, como consecuencia de la globalización, ha acercado algunas economías asiáticas a las economías de los países desarrollados, pero también ha intensificado los problemas ambientales y sociales.</a:t>
            </a:r>
            <a:endParaRPr sz="2800">
              <a:solidFill>
                <a:schemeClr val="dk2"/>
              </a:solidFill>
              <a:highlight>
                <a:srgbClr val="FAF2E9"/>
              </a:highlight>
              <a:latin typeface="Arial"/>
              <a:ea typeface="Arial"/>
              <a:cs typeface="Arial"/>
              <a:sym typeface="Arial"/>
            </a:endParaRPr>
          </a:p>
        </p:txBody>
      </p:sp>
      <p:pic>
        <p:nvPicPr>
          <p:cNvPr descr="Un dibujo de una persona&#10;&#10;Descripción generada automáticamente con confianza baja" id="193" name="Google Shape;193;p21"/>
          <p:cNvPicPr preferRelativeResize="0"/>
          <p:nvPr/>
        </p:nvPicPr>
        <p:blipFill rotWithShape="1">
          <a:blip r:embed="rId3">
            <a:alphaModFix/>
          </a:blip>
          <a:srcRect b="0" l="0" r="0" t="0"/>
          <a:stretch/>
        </p:blipFill>
        <p:spPr>
          <a:xfrm>
            <a:off x="591494" y="3086100"/>
            <a:ext cx="6380806" cy="5276659"/>
          </a:xfrm>
          <a:prstGeom prst="rect">
            <a:avLst/>
          </a:prstGeom>
          <a:noFill/>
          <a:ln cap="rnd" cmpd="sng" w="127000">
            <a:solidFill>
              <a:srgbClr val="FFFFFF"/>
            </a:solidFill>
            <a:prstDash val="solid"/>
            <a:round/>
            <a:headEnd len="sm" w="sm" type="none"/>
            <a:tailEnd len="sm" w="sm" type="none"/>
          </a:ln>
          <a:effectLst>
            <a:outerShdw blurRad="76200" sx="97000" kx="900000" rotWithShape="0" algn="br" dir="10500000" dist="95250" sy="23000">
              <a:srgbClr val="000000">
                <a:alpha val="20000"/>
              </a:srgbClr>
            </a:outerShdw>
          </a:effectLst>
        </p:spPr>
      </p:pic>
      <p:pic>
        <p:nvPicPr>
          <p:cNvPr descr="Árbol con hojas cayendo" id="194" name="Google Shape;194;p21"/>
          <p:cNvPicPr preferRelativeResize="0"/>
          <p:nvPr/>
        </p:nvPicPr>
        <p:blipFill rotWithShape="1">
          <a:blip r:embed="rId4">
            <a:alphaModFix/>
          </a:blip>
          <a:srcRect b="0" l="0" r="0" t="0"/>
          <a:stretch/>
        </p:blipFill>
        <p:spPr>
          <a:xfrm>
            <a:off x="9753600" y="0"/>
            <a:ext cx="5299306" cy="418140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nvSpPr>
        <p:spPr>
          <a:xfrm>
            <a:off x="815644" y="629591"/>
            <a:ext cx="11125200" cy="143258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5000">
                <a:solidFill>
                  <a:srgbClr val="317F54"/>
                </a:solidFill>
                <a:latin typeface="Overlock"/>
                <a:ea typeface="Overlock"/>
                <a:cs typeface="Overlock"/>
                <a:sym typeface="Overlock"/>
              </a:rPr>
              <a:t>1.2.4. Los problemas de la globalización</a:t>
            </a:r>
            <a:endParaRPr/>
          </a:p>
        </p:txBody>
      </p:sp>
      <p:sp>
        <p:nvSpPr>
          <p:cNvPr id="200" name="Google Shape;200;p22"/>
          <p:cNvSpPr txBox="1"/>
          <p:nvPr/>
        </p:nvSpPr>
        <p:spPr>
          <a:xfrm>
            <a:off x="8534400" y="4241390"/>
            <a:ext cx="5317590" cy="114624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t/>
            </a:r>
            <a:endParaRPr sz="2400">
              <a:solidFill>
                <a:schemeClr val="dk1"/>
              </a:solidFill>
              <a:latin typeface="Arial"/>
              <a:ea typeface="Arial"/>
              <a:cs typeface="Arial"/>
              <a:sym typeface="Arial"/>
            </a:endParaRPr>
          </a:p>
        </p:txBody>
      </p:sp>
      <p:sp>
        <p:nvSpPr>
          <p:cNvPr id="201" name="Google Shape;201;p22"/>
          <p:cNvSpPr txBox="1"/>
          <p:nvPr/>
        </p:nvSpPr>
        <p:spPr>
          <a:xfrm>
            <a:off x="902677" y="2143849"/>
            <a:ext cx="1112520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Arial"/>
                <a:ea typeface="Arial"/>
                <a:cs typeface="Arial"/>
                <a:sym typeface="Arial"/>
              </a:rPr>
              <a:t>El comercio internacional ha crecido gracias a la globalización, pero los beneficios han crecido más en los países desarrollados que en los países en vías de desarrollo.</a:t>
            </a:r>
            <a:endParaRPr/>
          </a:p>
        </p:txBody>
      </p:sp>
      <p:sp>
        <p:nvSpPr>
          <p:cNvPr id="202" name="Google Shape;202;p22"/>
          <p:cNvSpPr txBox="1"/>
          <p:nvPr/>
        </p:nvSpPr>
        <p:spPr>
          <a:xfrm>
            <a:off x="8001000" y="3548006"/>
            <a:ext cx="9144000" cy="332546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s-ES" sz="2800">
                <a:solidFill>
                  <a:schemeClr val="dk1"/>
                </a:solidFill>
                <a:latin typeface="Arial"/>
                <a:ea typeface="Arial"/>
                <a:cs typeface="Arial"/>
                <a:sym typeface="Arial"/>
              </a:rPr>
              <a:t>La creciente desigualdad entre países ricos y pobres, así como entre clases sociales dentro de cada nación, ha impulsado un aumento en las migraciones de personas en busca de mejores oportunidades.</a:t>
            </a:r>
            <a:endParaRPr/>
          </a:p>
          <a:p>
            <a:pPr indent="0" lvl="0" marL="0" marR="0" rtl="0" algn="l">
              <a:lnSpc>
                <a:spcPct val="90000"/>
              </a:lnSpc>
              <a:spcBef>
                <a:spcPts val="1000"/>
              </a:spcBef>
              <a:spcAft>
                <a:spcPts val="0"/>
              </a:spcAft>
              <a:buNone/>
            </a:pPr>
            <a:r>
              <a:rPr lang="es-ES" sz="2800">
                <a:solidFill>
                  <a:schemeClr val="dk1"/>
                </a:solidFill>
                <a:latin typeface="Arial"/>
                <a:ea typeface="Arial"/>
                <a:cs typeface="Arial"/>
                <a:sym typeface="Arial"/>
              </a:rPr>
              <a:t>Las industrias de los países desarrollados también han migrado hacia las economías menos avanzadas para beneficiarse de una mano de obra más barata y de una normativa laboral y medioambiental más laxa.</a:t>
            </a:r>
            <a:endParaRPr sz="2800">
              <a:solidFill>
                <a:schemeClr val="dk1"/>
              </a:solidFill>
              <a:latin typeface="Arial"/>
              <a:ea typeface="Arial"/>
              <a:cs typeface="Arial"/>
              <a:sym typeface="Arial"/>
            </a:endParaRPr>
          </a:p>
        </p:txBody>
      </p:sp>
      <p:pic>
        <p:nvPicPr>
          <p:cNvPr descr="Persona en tabla de surf en el mar&#10;&#10;Descripción generada automáticamente con confianza media" id="203" name="Google Shape;203;p22"/>
          <p:cNvPicPr preferRelativeResize="0"/>
          <p:nvPr/>
        </p:nvPicPr>
        <p:blipFill rotWithShape="1">
          <a:blip r:embed="rId3">
            <a:alphaModFix/>
          </a:blip>
          <a:srcRect b="0" l="0" r="0" t="0"/>
          <a:stretch/>
        </p:blipFill>
        <p:spPr>
          <a:xfrm>
            <a:off x="926123" y="7399905"/>
            <a:ext cx="12192000" cy="2120488"/>
          </a:xfrm>
          <a:prstGeom prst="rect">
            <a:avLst/>
          </a:prstGeom>
          <a:noFill/>
          <a:ln>
            <a:noFill/>
          </a:ln>
        </p:spPr>
      </p:pic>
      <p:pic>
        <p:nvPicPr>
          <p:cNvPr descr="Bola en espiral de moldura FOC" id="204" name="Google Shape;204;p22"/>
          <p:cNvPicPr preferRelativeResize="0"/>
          <p:nvPr/>
        </p:nvPicPr>
        <p:blipFill rotWithShape="1">
          <a:blip r:embed="rId4">
            <a:alphaModFix/>
          </a:blip>
          <a:srcRect b="0" l="0" r="0" t="0"/>
          <a:stretch/>
        </p:blipFill>
        <p:spPr>
          <a:xfrm rot="-5400000">
            <a:off x="2818045" y="3731603"/>
            <a:ext cx="3235932" cy="3312071"/>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3"/>
          <p:cNvSpPr txBox="1"/>
          <p:nvPr/>
        </p:nvSpPr>
        <p:spPr>
          <a:xfrm>
            <a:off x="1828800" y="1333500"/>
            <a:ext cx="9144000"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5000">
                <a:solidFill>
                  <a:srgbClr val="317F54"/>
                </a:solidFill>
                <a:latin typeface="Overlock"/>
                <a:ea typeface="Overlock"/>
                <a:cs typeface="Overlock"/>
                <a:sym typeface="Overlock"/>
              </a:rPr>
              <a:t>1.3. La huella ecológica</a:t>
            </a:r>
            <a:endParaRPr/>
          </a:p>
        </p:txBody>
      </p:sp>
      <p:sp>
        <p:nvSpPr>
          <p:cNvPr id="210" name="Google Shape;210;p23"/>
          <p:cNvSpPr txBox="1"/>
          <p:nvPr/>
        </p:nvSpPr>
        <p:spPr>
          <a:xfrm>
            <a:off x="1828800" y="2870492"/>
            <a:ext cx="96774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Arial"/>
                <a:ea typeface="Arial"/>
                <a:cs typeface="Arial"/>
                <a:sym typeface="Arial"/>
              </a:rPr>
              <a:t>El modo de consumo que se describe como </a:t>
            </a:r>
            <a:r>
              <a:rPr i="1" lang="es-ES" sz="2400">
                <a:solidFill>
                  <a:schemeClr val="dk1"/>
                </a:solidFill>
                <a:latin typeface="Arial"/>
                <a:ea typeface="Arial"/>
                <a:cs typeface="Arial"/>
                <a:sym typeface="Arial"/>
              </a:rPr>
              <a:t>de usar y tirar </a:t>
            </a:r>
            <a:r>
              <a:rPr lang="es-ES" sz="2400">
                <a:solidFill>
                  <a:schemeClr val="dk1"/>
                </a:solidFill>
                <a:latin typeface="Arial"/>
                <a:ea typeface="Arial"/>
                <a:cs typeface="Arial"/>
                <a:sym typeface="Arial"/>
              </a:rPr>
              <a:t>es una forma lineal de producir-consumir. Un ejemplo se encuentra en las botellas de plástico de un solo uso. Cada año, se fabrican y desechan más de 500 000 millones de unidades. La fabricación de todas estas botellas consume una gran cantidad de petróleo (un recurso natural no renovable) y genera toneladas de residuos y contaminación.</a:t>
            </a:r>
            <a:endParaRPr sz="2400">
              <a:solidFill>
                <a:schemeClr val="dk1"/>
              </a:solidFill>
              <a:latin typeface="Arial"/>
              <a:ea typeface="Arial"/>
              <a:cs typeface="Arial"/>
              <a:sym typeface="Arial"/>
            </a:endParaRPr>
          </a:p>
        </p:txBody>
      </p:sp>
      <p:pic>
        <p:nvPicPr>
          <p:cNvPr descr="Escena del proyecto de entorno 3d" id="211" name="Google Shape;211;p23"/>
          <p:cNvPicPr preferRelativeResize="0"/>
          <p:nvPr/>
        </p:nvPicPr>
        <p:blipFill rotWithShape="1">
          <a:blip r:embed="rId3">
            <a:alphaModFix/>
          </a:blip>
          <a:srcRect b="0" l="0" r="0" t="0"/>
          <a:stretch/>
        </p:blipFill>
        <p:spPr>
          <a:xfrm>
            <a:off x="12192000" y="4189988"/>
            <a:ext cx="4191000" cy="4191000"/>
          </a:xfrm>
          <a:prstGeom prst="rect">
            <a:avLst/>
          </a:prstGeom>
          <a:noFill/>
          <a:ln>
            <a:noFill/>
          </a:ln>
        </p:spPr>
      </p:pic>
      <p:sp>
        <p:nvSpPr>
          <p:cNvPr id="212" name="Google Shape;212;p23"/>
          <p:cNvSpPr/>
          <p:nvPr/>
        </p:nvSpPr>
        <p:spPr>
          <a:xfrm rot="7784475">
            <a:off x="11736979" y="3545831"/>
            <a:ext cx="4884958" cy="5633763"/>
          </a:xfrm>
          <a:prstGeom prst="arc">
            <a:avLst>
              <a:gd fmla="val 13222799" name="adj1"/>
              <a:gd fmla="val 1877582" name="adj2"/>
            </a:avLst>
          </a:prstGeom>
          <a:noFill/>
          <a:ln cap="flat" cmpd="sng" w="76200">
            <a:solidFill>
              <a:schemeClr val="accent4"/>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23"/>
          <p:cNvSpPr/>
          <p:nvPr/>
        </p:nvSpPr>
        <p:spPr>
          <a:xfrm>
            <a:off x="15674339" y="3377073"/>
            <a:ext cx="990600" cy="1016913"/>
          </a:xfrm>
          <a:prstGeom prst="ellipse">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magen que contiene tabla, pastel, pieza, papel&#10;&#10;Descripción generada automáticamente" id="214" name="Google Shape;214;p23"/>
          <p:cNvPicPr preferRelativeResize="0"/>
          <p:nvPr/>
        </p:nvPicPr>
        <p:blipFill rotWithShape="1">
          <a:blip r:embed="rId4">
            <a:alphaModFix/>
          </a:blip>
          <a:srcRect b="0" l="0" r="0" t="0"/>
          <a:stretch/>
        </p:blipFill>
        <p:spPr>
          <a:xfrm>
            <a:off x="2360430" y="6371783"/>
            <a:ext cx="7559858" cy="2828925"/>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nvSpPr>
        <p:spPr>
          <a:xfrm>
            <a:off x="1703803" y="1227623"/>
            <a:ext cx="9144000" cy="86177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5000">
                <a:solidFill>
                  <a:srgbClr val="317F54"/>
                </a:solidFill>
                <a:latin typeface="Overlock"/>
                <a:ea typeface="Overlock"/>
                <a:cs typeface="Overlock"/>
                <a:sym typeface="Overlock"/>
              </a:rPr>
              <a:t>1.3.1. Definiendo huella ecológica</a:t>
            </a:r>
            <a:endParaRPr/>
          </a:p>
        </p:txBody>
      </p:sp>
      <p:sp>
        <p:nvSpPr>
          <p:cNvPr id="220" name="Google Shape;220;p24"/>
          <p:cNvSpPr txBox="1"/>
          <p:nvPr/>
        </p:nvSpPr>
        <p:spPr>
          <a:xfrm>
            <a:off x="1752600" y="2989217"/>
            <a:ext cx="9144000" cy="12464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500">
                <a:solidFill>
                  <a:schemeClr val="dk1"/>
                </a:solidFill>
                <a:latin typeface="Arial"/>
                <a:ea typeface="Arial"/>
                <a:cs typeface="Arial"/>
                <a:sym typeface="Arial"/>
              </a:rPr>
              <a:t>Área de territorio ecológicamente productivo necesario para producir los recursos utilizados y para asimilar los residuos producidos. la biocapacidad </a:t>
            </a:r>
            <a:r>
              <a:rPr lang="es-ES" sz="2500">
                <a:solidFill>
                  <a:schemeClr val="dk1"/>
                </a:solidFill>
                <a:highlight>
                  <a:srgbClr val="FAF2E9"/>
                </a:highlight>
                <a:latin typeface="Arial"/>
                <a:ea typeface="Arial"/>
                <a:cs typeface="Arial"/>
                <a:sym typeface="Arial"/>
              </a:rPr>
              <a:t>de la tierra </a:t>
            </a:r>
            <a:r>
              <a:rPr b="1" lang="es-ES" sz="2500">
                <a:solidFill>
                  <a:schemeClr val="dk1"/>
                </a:solidFill>
                <a:highlight>
                  <a:srgbClr val="FAF2E9"/>
                </a:highlight>
                <a:latin typeface="Arial"/>
                <a:ea typeface="Arial"/>
                <a:cs typeface="Arial"/>
                <a:sym typeface="Arial"/>
              </a:rPr>
              <a:t>se mide en hectáreas.</a:t>
            </a:r>
            <a:endParaRPr sz="2500">
              <a:solidFill>
                <a:schemeClr val="dk1"/>
              </a:solidFill>
              <a:highlight>
                <a:srgbClr val="FAF2E9"/>
              </a:highlight>
              <a:latin typeface="Arial"/>
              <a:ea typeface="Arial"/>
              <a:cs typeface="Arial"/>
              <a:sym typeface="Arial"/>
            </a:endParaRPr>
          </a:p>
        </p:txBody>
      </p:sp>
      <p:sp>
        <p:nvSpPr>
          <p:cNvPr id="221" name="Google Shape;221;p24"/>
          <p:cNvSpPr txBox="1"/>
          <p:nvPr/>
        </p:nvSpPr>
        <p:spPr>
          <a:xfrm>
            <a:off x="6324600" y="6352351"/>
            <a:ext cx="9144000" cy="12464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500">
                <a:solidFill>
                  <a:schemeClr val="dk1"/>
                </a:solidFill>
                <a:highlight>
                  <a:srgbClr val="FAF2E9"/>
                </a:highlight>
                <a:latin typeface="Arial"/>
                <a:ea typeface="Arial"/>
                <a:cs typeface="Arial"/>
                <a:sym typeface="Arial"/>
              </a:rPr>
              <a:t>Se calcula que los humanos utilizamos los recursos como si viviéramos en un planeta que tuviese 1,75 veces el área ecológicamente productiva de la Tierra. </a:t>
            </a:r>
            <a:endParaRPr/>
          </a:p>
        </p:txBody>
      </p:sp>
      <p:pic>
        <p:nvPicPr>
          <p:cNvPr descr="Concepto de medio ambiente del Día de la Tierra y concepto ecológico" id="222" name="Google Shape;222;p24"/>
          <p:cNvPicPr preferRelativeResize="0"/>
          <p:nvPr/>
        </p:nvPicPr>
        <p:blipFill rotWithShape="1">
          <a:blip r:embed="rId3">
            <a:alphaModFix/>
          </a:blip>
          <a:srcRect b="0" l="0" r="0" t="0"/>
          <a:stretch/>
        </p:blipFill>
        <p:spPr>
          <a:xfrm rot="-5400000">
            <a:off x="1577108" y="4202715"/>
            <a:ext cx="3911718" cy="5868934"/>
          </a:xfrm>
          <a:prstGeom prst="rect">
            <a:avLst/>
          </a:prstGeom>
          <a:noFill/>
          <a:ln>
            <a:noFill/>
          </a:ln>
        </p:spPr>
      </p:pic>
      <p:pic>
        <p:nvPicPr>
          <p:cNvPr descr="Área de hierba" id="223" name="Google Shape;223;p24"/>
          <p:cNvPicPr preferRelativeResize="0"/>
          <p:nvPr/>
        </p:nvPicPr>
        <p:blipFill rotWithShape="1">
          <a:blip r:embed="rId4">
            <a:alphaModFix/>
          </a:blip>
          <a:srcRect b="0" l="0" r="0" t="0"/>
          <a:stretch/>
        </p:blipFill>
        <p:spPr>
          <a:xfrm>
            <a:off x="10872787" y="1576736"/>
            <a:ext cx="6191270" cy="442057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lustración de bola de nieve" id="228" name="Google Shape;228;p25"/>
          <p:cNvPicPr preferRelativeResize="0"/>
          <p:nvPr/>
        </p:nvPicPr>
        <p:blipFill rotWithShape="1">
          <a:blip r:embed="rId3">
            <a:alphaModFix/>
          </a:blip>
          <a:srcRect b="1" l="8300" r="21700" t="0"/>
          <a:stretch/>
        </p:blipFill>
        <p:spPr>
          <a:xfrm>
            <a:off x="758127" y="831226"/>
            <a:ext cx="8613283" cy="8613284"/>
          </a:xfrm>
          <a:custGeom>
            <a:rect b="b" l="l" r="r" t="t"/>
            <a:pathLst>
              <a:path extrusionOk="0" h="1838528" w="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ln>
            <a:noFill/>
          </a:ln>
        </p:spPr>
      </p:pic>
      <p:sp>
        <p:nvSpPr>
          <p:cNvPr id="229" name="Google Shape;229;p25"/>
          <p:cNvSpPr txBox="1"/>
          <p:nvPr/>
        </p:nvSpPr>
        <p:spPr>
          <a:xfrm>
            <a:off x="10668000" y="2247900"/>
            <a:ext cx="6629400" cy="1477328"/>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lang="es-ES" sz="5000">
                <a:solidFill>
                  <a:srgbClr val="317F54"/>
                </a:solidFill>
                <a:latin typeface="Overlock"/>
                <a:ea typeface="Overlock"/>
                <a:cs typeface="Overlock"/>
                <a:sym typeface="Overlock"/>
              </a:rPr>
              <a:t>1.3.2. Un impacto desigual entre países</a:t>
            </a:r>
            <a:endParaRPr/>
          </a:p>
        </p:txBody>
      </p:sp>
      <p:sp>
        <p:nvSpPr>
          <p:cNvPr id="230" name="Google Shape;230;p25"/>
          <p:cNvSpPr txBox="1"/>
          <p:nvPr/>
        </p:nvSpPr>
        <p:spPr>
          <a:xfrm>
            <a:off x="9906000" y="6286500"/>
            <a:ext cx="7242873"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600">
                <a:solidFill>
                  <a:schemeClr val="dk1"/>
                </a:solidFill>
                <a:highlight>
                  <a:srgbClr val="FAF2E9"/>
                </a:highlight>
                <a:latin typeface="Arial"/>
                <a:ea typeface="Arial"/>
                <a:cs typeface="Arial"/>
                <a:sym typeface="Arial"/>
              </a:rPr>
              <a:t>La huella ecológica de España es de 3,7 hectáreas por persona</a:t>
            </a:r>
            <a:r>
              <a:rPr lang="es-ES" sz="2600">
                <a:solidFill>
                  <a:schemeClr val="dk1"/>
                </a:solidFill>
                <a:highlight>
                  <a:srgbClr val="FAF2E9"/>
                </a:highlight>
                <a:latin typeface="Arial"/>
                <a:ea typeface="Arial"/>
                <a:cs typeface="Arial"/>
                <a:sym typeface="Arial"/>
              </a:rPr>
              <a:t>, la huella de Angola es de 0,9 hectáreas por persona y la de Estados Unidos es de 8,2 hectáreas por persona.</a:t>
            </a:r>
            <a:endParaRPr sz="2600">
              <a:solidFill>
                <a:schemeClr val="dk1"/>
              </a:solidFill>
              <a:highlight>
                <a:srgbClr val="FAF2E9"/>
              </a:highlight>
              <a:latin typeface="Arial"/>
              <a:ea typeface="Arial"/>
              <a:cs typeface="Arial"/>
              <a:sym typeface="Arial"/>
            </a:endParaRPr>
          </a:p>
        </p:txBody>
      </p:sp>
      <p:sp>
        <p:nvSpPr>
          <p:cNvPr id="231" name="Google Shape;231;p25"/>
          <p:cNvSpPr/>
          <p:nvPr/>
        </p:nvSpPr>
        <p:spPr>
          <a:xfrm>
            <a:off x="10515600" y="4570410"/>
            <a:ext cx="6629400" cy="870907"/>
          </a:xfrm>
          <a:custGeom>
            <a:rect b="b" l="l" r="r" t="t"/>
            <a:pathLst>
              <a:path extrusionOk="0" h="297404" w="2051059">
                <a:moveTo>
                  <a:pt x="0" y="0"/>
                </a:moveTo>
                <a:lnTo>
                  <a:pt x="2051059" y="0"/>
                </a:lnTo>
                <a:lnTo>
                  <a:pt x="2051059" y="297404"/>
                </a:lnTo>
                <a:lnTo>
                  <a:pt x="0" y="297404"/>
                </a:lnTo>
                <a:lnTo>
                  <a:pt x="0" y="0"/>
                </a:lnTo>
                <a:close/>
              </a:path>
            </a:pathLst>
          </a:custGeom>
          <a:blipFill rotWithShape="1">
            <a:blip r:embed="rId4">
              <a:alphaModFix/>
            </a:blip>
            <a:stretch>
              <a:fillRect b="0" l="0" r="0" t="0"/>
            </a:stretch>
          </a:blip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0000"/>
              </a:solidFill>
              <a:latin typeface="Arial"/>
              <a:ea typeface="Arial"/>
              <a:cs typeface="Arial"/>
              <a:sym typeface="Arial"/>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nvSpPr>
        <p:spPr>
          <a:xfrm>
            <a:off x="685800" y="1714500"/>
            <a:ext cx="6400800" cy="215610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5000">
                <a:solidFill>
                  <a:srgbClr val="317F54"/>
                </a:solidFill>
                <a:latin typeface="Overlock"/>
                <a:ea typeface="Overlock"/>
                <a:cs typeface="Overlock"/>
                <a:sym typeface="Overlock"/>
              </a:rPr>
              <a:t>1.3.3. La huella ecológica resulta de la suma de varias huellas</a:t>
            </a:r>
            <a:endParaRPr/>
          </a:p>
        </p:txBody>
      </p:sp>
      <p:sp>
        <p:nvSpPr>
          <p:cNvPr id="237" name="Google Shape;237;p26"/>
          <p:cNvSpPr txBox="1"/>
          <p:nvPr/>
        </p:nvSpPr>
        <p:spPr>
          <a:xfrm>
            <a:off x="8382000" y="2031790"/>
            <a:ext cx="8913090" cy="2799537"/>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None/>
            </a:pPr>
            <a:r>
              <a:rPr lang="es-ES" sz="2500">
                <a:solidFill>
                  <a:schemeClr val="dk1"/>
                </a:solidFill>
                <a:latin typeface="Arial"/>
                <a:ea typeface="Arial"/>
                <a:cs typeface="Arial"/>
                <a:sym typeface="Arial"/>
              </a:rPr>
              <a:t>La biocapacidad de la Tierra resulta de la suma de varias huellas, como la huella forestal, que mide la demanda de madera y la huella de pastoreo, que mide la demanda de pastizales para el ganado. La primera representa un 10% del total y la segunda el 5%. La mayor contribución a la huella ecológica procede de la huella de carbono, que mide la superficie de bosque necesaria para absorber las emisiones de CO2 y representa el 60%.</a:t>
            </a:r>
            <a:endParaRPr/>
          </a:p>
        </p:txBody>
      </p:sp>
      <p:pic>
        <p:nvPicPr>
          <p:cNvPr descr="Camino con curvas atraviesa un campo de hierba" id="238" name="Google Shape;238;p26"/>
          <p:cNvPicPr preferRelativeResize="0"/>
          <p:nvPr/>
        </p:nvPicPr>
        <p:blipFill rotWithShape="1">
          <a:blip r:embed="rId3">
            <a:alphaModFix/>
          </a:blip>
          <a:srcRect b="31698" l="0" r="0" t="23297"/>
          <a:stretch/>
        </p:blipFill>
        <p:spPr>
          <a:xfrm>
            <a:off x="20" y="4793226"/>
            <a:ext cx="18287980" cy="5493772"/>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nvSpPr>
        <p:spPr>
          <a:xfrm>
            <a:off x="10575335" y="2857500"/>
            <a:ext cx="6858000" cy="365741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lang="es-ES" sz="5000">
                <a:solidFill>
                  <a:srgbClr val="317F54"/>
                </a:solidFill>
                <a:latin typeface="Overlock"/>
                <a:ea typeface="Overlock"/>
                <a:cs typeface="Overlock"/>
                <a:sym typeface="Overlock"/>
              </a:rPr>
              <a:t>1.4. De la definición de desarrollo sostenible a la sostenibilidad del sistema productivo</a:t>
            </a:r>
            <a:endParaRPr/>
          </a:p>
          <a:p>
            <a:pPr indent="182880" lvl="0" marL="0" marR="0" rtl="0" algn="r">
              <a:lnSpc>
                <a:spcPct val="90000"/>
              </a:lnSpc>
              <a:spcBef>
                <a:spcPts val="800"/>
              </a:spcBef>
              <a:spcAft>
                <a:spcPts val="0"/>
              </a:spcAft>
              <a:buNone/>
            </a:pPr>
            <a:r>
              <a:rPr lang="es-ES" sz="5000">
                <a:solidFill>
                  <a:srgbClr val="317F54"/>
                </a:solidFill>
                <a:latin typeface="Overlock"/>
                <a:ea typeface="Overlock"/>
                <a:cs typeface="Overlock"/>
                <a:sym typeface="Overlock"/>
              </a:rPr>
              <a:t> </a:t>
            </a:r>
            <a:endParaRPr/>
          </a:p>
        </p:txBody>
      </p:sp>
      <p:sp>
        <p:nvSpPr>
          <p:cNvPr id="244" name="Google Shape;244;p27"/>
          <p:cNvSpPr txBox="1"/>
          <p:nvPr/>
        </p:nvSpPr>
        <p:spPr>
          <a:xfrm>
            <a:off x="8001000" y="5905500"/>
            <a:ext cx="8382000" cy="4000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s-ES" sz="2500">
                <a:solidFill>
                  <a:schemeClr val="dk1"/>
                </a:solidFill>
                <a:latin typeface="Arial"/>
                <a:ea typeface="Arial"/>
                <a:cs typeface="Arial"/>
                <a:sym typeface="Arial"/>
              </a:rPr>
              <a:t>En economía, el término </a:t>
            </a:r>
            <a:r>
              <a:rPr b="1" i="1" lang="es-ES" sz="2500">
                <a:solidFill>
                  <a:schemeClr val="dk1"/>
                </a:solidFill>
                <a:latin typeface="Arial"/>
                <a:ea typeface="Arial"/>
                <a:cs typeface="Arial"/>
                <a:sym typeface="Arial"/>
              </a:rPr>
              <a:t>desarrollo</a:t>
            </a:r>
            <a:r>
              <a:rPr lang="es-ES" sz="2500">
                <a:solidFill>
                  <a:schemeClr val="dk1"/>
                </a:solidFill>
                <a:latin typeface="Arial"/>
                <a:ea typeface="Arial"/>
                <a:cs typeface="Arial"/>
                <a:sym typeface="Arial"/>
              </a:rPr>
              <a:t> se utiliza para referir la mejora del nivel de vida de la sociedad.</a:t>
            </a:r>
            <a:endParaRPr/>
          </a:p>
          <a:p>
            <a:pPr indent="0" lvl="0" marL="0" marR="0" rtl="0" algn="l">
              <a:lnSpc>
                <a:spcPct val="90000"/>
              </a:lnSpc>
              <a:spcBef>
                <a:spcPts val="600"/>
              </a:spcBef>
              <a:spcAft>
                <a:spcPts val="0"/>
              </a:spcAft>
              <a:buNone/>
            </a:pPr>
            <a:r>
              <a:rPr lang="es-ES" sz="2500">
                <a:solidFill>
                  <a:schemeClr val="dk1"/>
                </a:solidFill>
                <a:latin typeface="Arial"/>
                <a:ea typeface="Arial"/>
                <a:cs typeface="Arial"/>
                <a:sym typeface="Arial"/>
              </a:rPr>
              <a:t>El desarrollo sostenible es el que satisface las necesidades de la generación presente sin comprometer la capacidad de las generaciones futuras para satisfacer sus propias necesidades.</a:t>
            </a:r>
            <a:endParaRPr/>
          </a:p>
          <a:p>
            <a:pPr indent="0" lvl="0" marL="0" marR="0" rtl="0" algn="l">
              <a:lnSpc>
                <a:spcPct val="90000"/>
              </a:lnSpc>
              <a:spcBef>
                <a:spcPts val="600"/>
              </a:spcBef>
              <a:spcAft>
                <a:spcPts val="0"/>
              </a:spcAft>
              <a:buNone/>
            </a:pPr>
            <a:r>
              <a:t/>
            </a:r>
            <a:endParaRPr sz="3000">
              <a:solidFill>
                <a:schemeClr val="dk1"/>
              </a:solidFill>
              <a:latin typeface="Arial"/>
              <a:ea typeface="Arial"/>
              <a:cs typeface="Arial"/>
              <a:sym typeface="Arial"/>
            </a:endParaRPr>
          </a:p>
        </p:txBody>
      </p:sp>
      <p:pic>
        <p:nvPicPr>
          <p:cNvPr descr="Mapa de colores&#10;&#10;Descripción generada automáticamente con confianza media" id="245" name="Google Shape;245;p27"/>
          <p:cNvPicPr preferRelativeResize="0"/>
          <p:nvPr/>
        </p:nvPicPr>
        <p:blipFill rotWithShape="1">
          <a:blip r:embed="rId3">
            <a:alphaModFix/>
          </a:blip>
          <a:srcRect b="0" l="0" r="0" t="0"/>
          <a:stretch/>
        </p:blipFill>
        <p:spPr>
          <a:xfrm>
            <a:off x="-1" y="-22860"/>
            <a:ext cx="9432335" cy="890016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nvSpPr>
        <p:spPr>
          <a:xfrm>
            <a:off x="8305800" y="1866900"/>
            <a:ext cx="9144000" cy="163121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s-ES" sz="5000">
                <a:solidFill>
                  <a:srgbClr val="317F54"/>
                </a:solidFill>
                <a:latin typeface="Overlock"/>
                <a:ea typeface="Overlock"/>
                <a:cs typeface="Overlock"/>
                <a:sym typeface="Overlock"/>
              </a:rPr>
              <a:t>1.4.1. Recursos renovables y no renovables</a:t>
            </a:r>
            <a:endParaRPr/>
          </a:p>
        </p:txBody>
      </p:sp>
      <p:sp>
        <p:nvSpPr>
          <p:cNvPr id="251" name="Google Shape;251;p28"/>
          <p:cNvSpPr txBox="1"/>
          <p:nvPr/>
        </p:nvSpPr>
        <p:spPr>
          <a:xfrm>
            <a:off x="9982200" y="4480561"/>
            <a:ext cx="7209971" cy="46935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500">
                <a:solidFill>
                  <a:schemeClr val="dk1"/>
                </a:solidFill>
                <a:latin typeface="Arial"/>
                <a:ea typeface="Arial"/>
                <a:cs typeface="Arial"/>
                <a:sym typeface="Arial"/>
              </a:rPr>
              <a:t>La diferencia entre unos y otros está en su </a:t>
            </a:r>
            <a:r>
              <a:rPr b="1" lang="es-ES" sz="2500">
                <a:solidFill>
                  <a:schemeClr val="dk1"/>
                </a:solidFill>
                <a:latin typeface="Arial"/>
                <a:ea typeface="Arial"/>
                <a:cs typeface="Arial"/>
                <a:sym typeface="Arial"/>
              </a:rPr>
              <a:t>disponibilidad</a:t>
            </a:r>
            <a:r>
              <a:rPr lang="es-ES" sz="2500">
                <a:solidFill>
                  <a:schemeClr val="dk1"/>
                </a:solidFill>
                <a:latin typeface="Arial"/>
                <a:ea typeface="Arial"/>
                <a:cs typeface="Arial"/>
                <a:sym typeface="Arial"/>
              </a:rPr>
              <a:t> y en su </a:t>
            </a:r>
            <a:r>
              <a:rPr b="1" lang="es-ES" sz="2500">
                <a:solidFill>
                  <a:schemeClr val="dk1"/>
                </a:solidFill>
                <a:latin typeface="Arial"/>
                <a:ea typeface="Arial"/>
                <a:cs typeface="Arial"/>
                <a:sym typeface="Arial"/>
              </a:rPr>
              <a:t>capacidad de regeneración</a:t>
            </a:r>
            <a:r>
              <a:rPr lang="es-ES" sz="2500">
                <a:solidFill>
                  <a:schemeClr val="dk1"/>
                </a:solidFill>
                <a:latin typeface="Arial"/>
                <a:ea typeface="Arial"/>
                <a:cs typeface="Arial"/>
                <a:sym typeface="Arial"/>
              </a:rPr>
              <a:t>. El sol, el viento y el agua se incluyen en el grupo de los recursos naturales renovables porque su disponibilidad es ilimitada. </a:t>
            </a:r>
            <a:endParaRPr/>
          </a:p>
          <a:p>
            <a:pPr indent="0" lvl="0" marL="0" marR="0" rtl="0" algn="l">
              <a:spcBef>
                <a:spcPts val="0"/>
              </a:spcBef>
              <a:spcAft>
                <a:spcPts val="0"/>
              </a:spcAft>
              <a:buNone/>
            </a:pPr>
            <a:r>
              <a:t/>
            </a:r>
            <a:endParaRPr sz="2500">
              <a:solidFill>
                <a:schemeClr val="dk1"/>
              </a:solidFill>
              <a:latin typeface="Arial"/>
              <a:ea typeface="Arial"/>
              <a:cs typeface="Arial"/>
              <a:sym typeface="Arial"/>
            </a:endParaRPr>
          </a:p>
          <a:p>
            <a:pPr indent="0" lvl="0" marL="0" marR="0" rtl="0" algn="l">
              <a:spcBef>
                <a:spcPts val="0"/>
              </a:spcBef>
              <a:spcAft>
                <a:spcPts val="0"/>
              </a:spcAft>
              <a:buNone/>
            </a:pPr>
            <a:r>
              <a:rPr lang="es-ES" sz="2500">
                <a:solidFill>
                  <a:schemeClr val="dk1"/>
                </a:solidFill>
                <a:latin typeface="Arial"/>
                <a:ea typeface="Arial"/>
                <a:cs typeface="Arial"/>
                <a:sym typeface="Arial"/>
              </a:rPr>
              <a:t>Por el contrario, el carbón mineral, el petróleo y el gas natural son recursos no renovables, porque se encuentran en el subsuelo en cantidades finitas y, cuando se queman para producir energía, se destruyen para siempre.</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2" name="Google Shape;252;p28"/>
          <p:cNvSpPr/>
          <p:nvPr/>
        </p:nvSpPr>
        <p:spPr>
          <a:xfrm>
            <a:off x="0" y="0"/>
            <a:ext cx="6781800" cy="9639300"/>
          </a:xfrm>
          <a:prstGeom prst="rect">
            <a:avLst/>
          </a:prstGeom>
          <a:gradFill>
            <a:gsLst>
              <a:gs pos="0">
                <a:srgbClr val="07384F"/>
              </a:gs>
              <a:gs pos="50000">
                <a:srgbClr val="0A5272"/>
              </a:gs>
              <a:gs pos="100000">
                <a:srgbClr val="0C638A"/>
              </a:gs>
            </a:gsLst>
            <a:path path="circle">
              <a:fillToRect b="0%" l="0%" r="100%" t="100%"/>
            </a:path>
            <a:tileRect b="-100%" l="-100%" r="0%" t="0%"/>
          </a:gra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magen que contiene Icono&#10;&#10;Descripción generada automáticamente" id="253" name="Google Shape;253;p28"/>
          <p:cNvPicPr preferRelativeResize="0"/>
          <p:nvPr/>
        </p:nvPicPr>
        <p:blipFill rotWithShape="1">
          <a:blip r:embed="rId3">
            <a:alphaModFix/>
          </a:blip>
          <a:srcRect b="0" l="0" r="0" t="0"/>
          <a:stretch/>
        </p:blipFill>
        <p:spPr>
          <a:xfrm>
            <a:off x="3000829" y="2019300"/>
            <a:ext cx="6172200" cy="617220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9"/>
          <p:cNvSpPr txBox="1"/>
          <p:nvPr/>
        </p:nvSpPr>
        <p:spPr>
          <a:xfrm>
            <a:off x="9658556" y="1257300"/>
            <a:ext cx="7937495" cy="2443163"/>
          </a:xfrm>
          <a:prstGeom prst="rect">
            <a:avLst/>
          </a:prstGeom>
          <a:noFill/>
          <a:ln>
            <a:noFill/>
          </a:ln>
        </p:spPr>
        <p:txBody>
          <a:bodyPr anchorCtr="0" anchor="b" bIns="45700" lIns="91425" spcFirstLastPara="1" rIns="91425" wrap="square" tIns="45700">
            <a:normAutofit fontScale="70000" lnSpcReduction="20000"/>
          </a:bodyPr>
          <a:lstStyle/>
          <a:p>
            <a:pPr indent="182880" lvl="0" marL="0" marR="0" rtl="0" algn="l">
              <a:lnSpc>
                <a:spcPct val="90000"/>
              </a:lnSpc>
              <a:spcBef>
                <a:spcPts val="0"/>
              </a:spcBef>
              <a:spcAft>
                <a:spcPts val="0"/>
              </a:spcAft>
              <a:buNone/>
            </a:pPr>
            <a:r>
              <a:rPr lang="es-ES" sz="4200">
                <a:solidFill>
                  <a:schemeClr val="dk1"/>
                </a:solidFill>
                <a:latin typeface="Play"/>
                <a:ea typeface="Play"/>
                <a:cs typeface="Play"/>
                <a:sym typeface="Play"/>
              </a:rPr>
              <a:t> </a:t>
            </a:r>
            <a:endParaRPr/>
          </a:p>
          <a:p>
            <a:pPr indent="0" lvl="0" marL="0" marR="0" rtl="0" algn="l">
              <a:lnSpc>
                <a:spcPct val="90000"/>
              </a:lnSpc>
              <a:spcBef>
                <a:spcPts val="600"/>
              </a:spcBef>
              <a:spcAft>
                <a:spcPts val="0"/>
              </a:spcAft>
              <a:buNone/>
            </a:pPr>
            <a:r>
              <a:rPr lang="es-ES" sz="7700">
                <a:solidFill>
                  <a:srgbClr val="317F54"/>
                </a:solidFill>
                <a:latin typeface="Overlock"/>
                <a:ea typeface="Overlock"/>
                <a:cs typeface="Overlock"/>
                <a:sym typeface="Overlock"/>
              </a:rPr>
              <a:t>1.4.2. ¿Qué es la explotación sostenible de los recursos naturales?</a:t>
            </a:r>
            <a:endParaRPr/>
          </a:p>
        </p:txBody>
      </p:sp>
      <p:pic>
        <p:nvPicPr>
          <p:cNvPr descr="Renderización en 3D de troncos de madera" id="259" name="Google Shape;259;p29"/>
          <p:cNvPicPr preferRelativeResize="0"/>
          <p:nvPr/>
        </p:nvPicPr>
        <p:blipFill rotWithShape="1">
          <a:blip r:embed="rId3">
            <a:alphaModFix/>
          </a:blip>
          <a:srcRect b="2" l="0" r="11092" t="0"/>
          <a:stretch/>
        </p:blipFill>
        <p:spPr>
          <a:xfrm>
            <a:off x="3" y="2380"/>
            <a:ext cx="9143998" cy="10284620"/>
          </a:xfrm>
          <a:custGeom>
            <a:rect b="b" l="l" r="r" t="t"/>
            <a:pathLst>
              <a:path extrusionOk="0" h="6856413" w="6649908">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ln>
            <a:noFill/>
          </a:ln>
        </p:spPr>
      </p:pic>
      <p:sp>
        <p:nvSpPr>
          <p:cNvPr id="260" name="Google Shape;260;p29"/>
          <p:cNvSpPr txBox="1"/>
          <p:nvPr/>
        </p:nvSpPr>
        <p:spPr>
          <a:xfrm>
            <a:off x="9658556" y="4076701"/>
            <a:ext cx="7937494" cy="3962400"/>
          </a:xfrm>
          <a:prstGeom prst="rect">
            <a:avLst/>
          </a:prstGeom>
          <a:noFill/>
          <a:ln>
            <a:noFill/>
          </a:ln>
        </p:spPr>
        <p:txBody>
          <a:bodyPr anchorCtr="0" anchor="t" bIns="45700" lIns="91425" spcFirstLastPara="1" rIns="91425" wrap="square" tIns="45700">
            <a:normAutofit/>
          </a:bodyPr>
          <a:lstStyle/>
          <a:p>
            <a:pPr indent="171450" lvl="0" marL="0" marR="0" rtl="0" algn="l">
              <a:lnSpc>
                <a:spcPct val="90000"/>
              </a:lnSpc>
              <a:spcBef>
                <a:spcPts val="0"/>
              </a:spcBef>
              <a:spcAft>
                <a:spcPts val="0"/>
              </a:spcAft>
              <a:buClr>
                <a:schemeClr val="dk1"/>
              </a:buClr>
              <a:buSzPts val="2700"/>
              <a:buFont typeface="Arial"/>
              <a:buNone/>
            </a:pPr>
            <a:r>
              <a:t/>
            </a:r>
            <a:endParaRPr sz="27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rPr lang="es-ES" sz="2500">
                <a:solidFill>
                  <a:schemeClr val="dk1"/>
                </a:solidFill>
                <a:latin typeface="Arial"/>
                <a:ea typeface="Arial"/>
                <a:cs typeface="Arial"/>
                <a:sym typeface="Arial"/>
              </a:rPr>
              <a:t>El</a:t>
            </a:r>
            <a:r>
              <a:rPr b="1" i="1" lang="es-ES" sz="2500">
                <a:solidFill>
                  <a:schemeClr val="dk1"/>
                </a:solidFill>
                <a:latin typeface="Arial"/>
                <a:ea typeface="Arial"/>
                <a:cs typeface="Arial"/>
                <a:sym typeface="Arial"/>
              </a:rPr>
              <a:t> Informe Brundtland</a:t>
            </a:r>
            <a:r>
              <a:rPr lang="es-ES" sz="2500">
                <a:solidFill>
                  <a:schemeClr val="dk1"/>
                </a:solidFill>
                <a:latin typeface="Arial"/>
                <a:ea typeface="Arial"/>
                <a:cs typeface="Arial"/>
                <a:sym typeface="Arial"/>
              </a:rPr>
              <a:t> señala que los Gobiernos deberían asegurar unas tasas de explotación de los bosques y de los recursos pesqueros dentro de sus límites de rendimiento sostenible.</a:t>
            </a:r>
            <a:endParaRPr/>
          </a:p>
          <a:p>
            <a:pPr indent="0" lvl="0" marL="0" marR="0" rtl="0" algn="l">
              <a:lnSpc>
                <a:spcPct val="90000"/>
              </a:lnSpc>
              <a:spcBef>
                <a:spcPts val="600"/>
              </a:spcBef>
              <a:spcAft>
                <a:spcPts val="0"/>
              </a:spcAft>
              <a:buNone/>
            </a:pPr>
            <a:r>
              <a:rPr lang="es-ES" sz="2500">
                <a:solidFill>
                  <a:schemeClr val="dk1"/>
                </a:solidFill>
                <a:latin typeface="Arial"/>
                <a:ea typeface="Arial"/>
                <a:cs typeface="Arial"/>
                <a:sym typeface="Arial"/>
              </a:rPr>
              <a:t>La </a:t>
            </a:r>
            <a:r>
              <a:rPr b="1" lang="es-ES" sz="2500">
                <a:solidFill>
                  <a:schemeClr val="dk1"/>
                </a:solidFill>
                <a:latin typeface="Arial"/>
                <a:ea typeface="Arial"/>
                <a:cs typeface="Arial"/>
                <a:sym typeface="Arial"/>
              </a:rPr>
              <a:t>Declaración del Milenio </a:t>
            </a:r>
            <a:r>
              <a:rPr lang="es-ES" sz="2500">
                <a:solidFill>
                  <a:schemeClr val="dk1"/>
                </a:solidFill>
                <a:latin typeface="Arial"/>
                <a:ea typeface="Arial"/>
                <a:cs typeface="Arial"/>
                <a:sym typeface="Arial"/>
              </a:rPr>
              <a:t>es una secuela de este informe. Establece un vínculo emocional con la sostenibilidad, al tiempo que muestra la urgencia de prevenir el deterioro del planeta.</a:t>
            </a:r>
            <a:endParaRPr sz="2500">
              <a:solidFill>
                <a:schemeClr val="dk1"/>
              </a:solidFill>
              <a:latin typeface="Arial"/>
              <a:ea typeface="Arial"/>
              <a:cs typeface="Arial"/>
              <a:sym typeface="Arial"/>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Globo pequeño con tenedor de plástico" id="265" name="Google Shape;265;p30"/>
          <p:cNvPicPr preferRelativeResize="0"/>
          <p:nvPr/>
        </p:nvPicPr>
        <p:blipFill rotWithShape="1">
          <a:blip r:embed="rId3">
            <a:alphaModFix/>
          </a:blip>
          <a:srcRect b="-1" l="0" r="-1" t="0"/>
          <a:stretch/>
        </p:blipFill>
        <p:spPr>
          <a:xfrm>
            <a:off x="11373897" y="3162300"/>
            <a:ext cx="6400800" cy="6400800"/>
          </a:xfrm>
          <a:custGeom>
            <a:rect b="b" l="l" r="r" t="t"/>
            <a:pathLst>
              <a:path extrusionOk="0" h="3741748" w="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266" name="Google Shape;266;p30"/>
          <p:cNvSpPr txBox="1"/>
          <p:nvPr/>
        </p:nvSpPr>
        <p:spPr>
          <a:xfrm>
            <a:off x="5448300" y="1257300"/>
            <a:ext cx="7391400" cy="2336024"/>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s-ES" sz="5400">
                <a:solidFill>
                  <a:srgbClr val="317F54"/>
                </a:solidFill>
                <a:latin typeface="Overlock"/>
                <a:ea typeface="Overlock"/>
                <a:cs typeface="Overlock"/>
                <a:sym typeface="Overlock"/>
              </a:rPr>
              <a:t>1.4.4. La economía como subsistema del planeta Tierra</a:t>
            </a:r>
            <a:endParaRPr/>
          </a:p>
        </p:txBody>
      </p:sp>
      <p:sp>
        <p:nvSpPr>
          <p:cNvPr id="267" name="Google Shape;267;p30"/>
          <p:cNvSpPr txBox="1"/>
          <p:nvPr/>
        </p:nvSpPr>
        <p:spPr>
          <a:xfrm>
            <a:off x="5931510" y="5393204"/>
            <a:ext cx="4800600" cy="289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600">
                <a:solidFill>
                  <a:schemeClr val="dk1"/>
                </a:solidFill>
                <a:latin typeface="Arial"/>
                <a:ea typeface="Arial"/>
                <a:cs typeface="Arial"/>
                <a:sym typeface="Arial"/>
              </a:rPr>
              <a:t>Se debería considerarse como un subsistema integrado dentro del sistema Tierra y, en consecuencia, la economía debería observar cómo funcionan los ecosistemas terrestres.</a:t>
            </a:r>
            <a:endParaRPr sz="2600">
              <a:solidFill>
                <a:schemeClr val="dk1"/>
              </a:solidFill>
              <a:latin typeface="Arial"/>
              <a:ea typeface="Arial"/>
              <a:cs typeface="Arial"/>
              <a:sym typeface="Arial"/>
            </a:endParaRPr>
          </a:p>
        </p:txBody>
      </p:sp>
      <p:pic>
        <p:nvPicPr>
          <p:cNvPr descr="Paraguas con un patrón floral" id="268" name="Google Shape;268;p30"/>
          <p:cNvPicPr preferRelativeResize="0"/>
          <p:nvPr/>
        </p:nvPicPr>
        <p:blipFill rotWithShape="1">
          <a:blip r:embed="rId4">
            <a:alphaModFix/>
          </a:blip>
          <a:srcRect b="0" l="0" r="0" t="0"/>
          <a:stretch/>
        </p:blipFill>
        <p:spPr>
          <a:xfrm>
            <a:off x="-228600" y="-633620"/>
            <a:ext cx="4859594" cy="4859594"/>
          </a:xfrm>
          <a:prstGeom prst="rect">
            <a:avLst/>
          </a:prstGeom>
          <a:noFill/>
          <a:ln>
            <a:noFill/>
          </a:ln>
        </p:spPr>
      </p:pic>
      <p:pic>
        <p:nvPicPr>
          <p:cNvPr descr="Flecha&#10;&#10;Descripción generada automáticamente con confianza media" id="269" name="Google Shape;269;p30"/>
          <p:cNvPicPr preferRelativeResize="0"/>
          <p:nvPr/>
        </p:nvPicPr>
        <p:blipFill rotWithShape="1">
          <a:blip r:embed="rId5">
            <a:alphaModFix/>
          </a:blip>
          <a:srcRect b="0" l="0" r="0" t="0"/>
          <a:stretch/>
        </p:blipFill>
        <p:spPr>
          <a:xfrm>
            <a:off x="513303" y="4225974"/>
            <a:ext cx="4752975" cy="4752975"/>
          </a:xfrm>
          <a:prstGeom prst="rect">
            <a:avLst/>
          </a:prstGeom>
          <a:solidFill>
            <a:srgbClr val="ECECEC"/>
          </a:solidFill>
          <a:ln cap="sq" cmpd="sng" w="190500">
            <a:solidFill>
              <a:srgbClr val="FFFFFF"/>
            </a:solidFill>
            <a:prstDash val="solid"/>
            <a:miter lim="800000"/>
            <a:headEnd len="sm" w="sm" type="none"/>
            <a:tailEnd len="sm" w="sm" type="none"/>
          </a:ln>
          <a:effectLst>
            <a:outerShdw blurRad="65000" kx="195000" rotWithShape="0" algn="tl" dir="12900000" dist="50800" ky="145000">
              <a:srgbClr val="000000">
                <a:alpha val="29803"/>
              </a:srgbClr>
            </a:outerShdw>
          </a:effectLst>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descr="Ave volando en el cielo&#10;&#10;Descripción generada automáticamente con confianza media" id="274" name="Google Shape;274;p31"/>
          <p:cNvPicPr preferRelativeResize="0"/>
          <p:nvPr/>
        </p:nvPicPr>
        <p:blipFill rotWithShape="1">
          <a:blip r:embed="rId3">
            <a:alphaModFix/>
          </a:blip>
          <a:srcRect b="0" l="0" r="0" t="0"/>
          <a:stretch/>
        </p:blipFill>
        <p:spPr>
          <a:xfrm>
            <a:off x="647700" y="3427148"/>
            <a:ext cx="4057650" cy="3867150"/>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275" name="Google Shape;275;p31"/>
          <p:cNvSpPr txBox="1"/>
          <p:nvPr/>
        </p:nvSpPr>
        <p:spPr>
          <a:xfrm>
            <a:off x="3200400" y="647154"/>
            <a:ext cx="8229600" cy="233602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lang="es-ES" sz="5400">
                <a:solidFill>
                  <a:srgbClr val="317F54"/>
                </a:solidFill>
                <a:latin typeface="Overlock"/>
                <a:ea typeface="Overlock"/>
                <a:cs typeface="Overlock"/>
                <a:sym typeface="Overlock"/>
              </a:rPr>
              <a:t>1.5. Marcos internacionales relativos a la sostenibilidad del sistema productivo</a:t>
            </a:r>
            <a:endParaRPr/>
          </a:p>
        </p:txBody>
      </p:sp>
      <p:sp>
        <p:nvSpPr>
          <p:cNvPr id="276" name="Google Shape;276;p31"/>
          <p:cNvSpPr txBox="1"/>
          <p:nvPr/>
        </p:nvSpPr>
        <p:spPr>
          <a:xfrm>
            <a:off x="8077200" y="3782041"/>
            <a:ext cx="9144000" cy="4310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Arial"/>
                <a:ea typeface="Arial"/>
                <a:cs typeface="Arial"/>
                <a:sym typeface="Arial"/>
              </a:rPr>
              <a:t>El interés por lograr la sostenibilidad alcanza a todos los países. Concretamente, los Estados que conforman la ONU trabajan actualmente en la consecución de los objetivos de la Agenda 2030.</a:t>
            </a:r>
            <a:endParaRPr/>
          </a:p>
          <a:p>
            <a:pPr indent="0" lvl="0" marL="0" marR="0" rtl="0" algn="l">
              <a:spcBef>
                <a:spcPts val="60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t/>
            </a:r>
            <a:endParaRPr sz="2400">
              <a:solidFill>
                <a:schemeClr val="dk1"/>
              </a:solidFill>
              <a:latin typeface="Arial"/>
              <a:ea typeface="Arial"/>
              <a:cs typeface="Arial"/>
              <a:sym typeface="Arial"/>
            </a:endParaRPr>
          </a:p>
          <a:p>
            <a:pPr indent="0" lvl="0" marL="0" marR="0" rtl="0" algn="l">
              <a:lnSpc>
                <a:spcPct val="90000"/>
              </a:lnSpc>
              <a:spcBef>
                <a:spcPts val="600"/>
              </a:spcBef>
              <a:spcAft>
                <a:spcPts val="0"/>
              </a:spcAft>
              <a:buNone/>
            </a:pPr>
            <a:r>
              <a:t/>
            </a:r>
            <a:endParaRPr sz="2400">
              <a:solidFill>
                <a:schemeClr val="dk1"/>
              </a:solidFill>
              <a:latin typeface="Arial"/>
              <a:ea typeface="Arial"/>
              <a:cs typeface="Arial"/>
              <a:sym typeface="Arial"/>
            </a:endParaRPr>
          </a:p>
        </p:txBody>
      </p:sp>
      <p:sp>
        <p:nvSpPr>
          <p:cNvPr id="277" name="Google Shape;277;p31"/>
          <p:cNvSpPr txBox="1"/>
          <p:nvPr/>
        </p:nvSpPr>
        <p:spPr>
          <a:xfrm>
            <a:off x="5295900" y="6276634"/>
            <a:ext cx="7696200" cy="1815882"/>
          </a:xfrm>
          <a:prstGeom prst="rect">
            <a:avLst/>
          </a:prstGeom>
          <a:noFill/>
          <a:ln>
            <a:noFill/>
          </a:ln>
        </p:spPr>
        <p:txBody>
          <a:bodyPr anchorCtr="0" anchor="t" bIns="45700" lIns="91425" spcFirstLastPara="1" rIns="91425" wrap="square" tIns="45700">
            <a:spAutoFit/>
          </a:bodyPr>
          <a:lstStyle/>
          <a:p>
            <a:pPr indent="0" lvl="0" marL="0" marR="5715" rtl="0" algn="just">
              <a:spcBef>
                <a:spcPts val="0"/>
              </a:spcBef>
              <a:spcAft>
                <a:spcPts val="0"/>
              </a:spcAft>
              <a:buNone/>
            </a:pPr>
            <a:r>
              <a:rPr lang="es-ES" sz="2800">
                <a:solidFill>
                  <a:schemeClr val="dk1"/>
                </a:solidFill>
                <a:latin typeface="Arial"/>
                <a:ea typeface="Arial"/>
                <a:cs typeface="Arial"/>
                <a:sym typeface="Arial"/>
              </a:rPr>
              <a:t>El primer gran acto del desarrollo sostenible global se produjo el año  1983,  cuando  la  ONU  estableció  una  Comisión  Mundial  sobre  el  Medioambiente  y  el Desarrollo. </a:t>
            </a:r>
            <a:endParaRPr/>
          </a:p>
        </p:txBody>
      </p:sp>
      <p:pic>
        <p:nvPicPr>
          <p:cNvPr descr="Niño sosteniendo una cometa" id="278" name="Google Shape;278;p31"/>
          <p:cNvPicPr preferRelativeResize="0"/>
          <p:nvPr/>
        </p:nvPicPr>
        <p:blipFill rotWithShape="1">
          <a:blip r:embed="rId4">
            <a:alphaModFix/>
          </a:blip>
          <a:srcRect b="0" l="0" r="0" t="0"/>
          <a:stretch/>
        </p:blipFill>
        <p:spPr>
          <a:xfrm>
            <a:off x="14173200" y="6374423"/>
            <a:ext cx="2833688" cy="2618661"/>
          </a:xfrm>
          <a:prstGeom prst="ellipse">
            <a:avLst/>
          </a:prstGeom>
          <a:noFill/>
          <a:ln>
            <a:noFill/>
          </a:ln>
          <a:effectLst>
            <a:outerShdw blurRad="381000" sx="-80000" rotWithShape="0" dir="5400000" dist="292100" sy="-18000">
              <a:srgbClr val="000000">
                <a:alpha val="21960"/>
              </a:srgbClr>
            </a:outerShdw>
          </a:effectLst>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2"/>
          <p:cNvSpPr txBox="1"/>
          <p:nvPr/>
        </p:nvSpPr>
        <p:spPr>
          <a:xfrm>
            <a:off x="381000" y="495300"/>
            <a:ext cx="86106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5400">
                <a:solidFill>
                  <a:srgbClr val="3A7D22"/>
                </a:solidFill>
                <a:latin typeface="Overlock"/>
                <a:ea typeface="Overlock"/>
                <a:cs typeface="Overlock"/>
                <a:sym typeface="Overlock"/>
              </a:rPr>
              <a:t>1.5.1.  Marcos para conservar la biodiversidad, el clima y los derechos sociales</a:t>
            </a:r>
            <a:endParaRPr/>
          </a:p>
        </p:txBody>
      </p:sp>
      <p:sp>
        <p:nvSpPr>
          <p:cNvPr id="284" name="Google Shape;284;p32"/>
          <p:cNvSpPr txBox="1"/>
          <p:nvPr/>
        </p:nvSpPr>
        <p:spPr>
          <a:xfrm>
            <a:off x="9753600" y="2096512"/>
            <a:ext cx="6477000"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Arial"/>
                <a:ea typeface="Arial"/>
                <a:cs typeface="Arial"/>
                <a:sym typeface="Arial"/>
              </a:rPr>
              <a:t>El  </a:t>
            </a:r>
            <a:r>
              <a:rPr b="1" lang="es-ES" sz="2400">
                <a:solidFill>
                  <a:schemeClr val="dk1"/>
                </a:solidFill>
                <a:latin typeface="Arial"/>
                <a:ea typeface="Arial"/>
                <a:cs typeface="Arial"/>
                <a:sym typeface="Arial"/>
              </a:rPr>
              <a:t>Convenio  de  las  Naciones Unidas   sobre   Diversidad   Biológica   </a:t>
            </a:r>
            <a:r>
              <a:rPr lang="es-ES" sz="2400">
                <a:solidFill>
                  <a:schemeClr val="dk1"/>
                </a:solidFill>
                <a:latin typeface="Arial"/>
                <a:ea typeface="Arial"/>
                <a:cs typeface="Arial"/>
                <a:sym typeface="Arial"/>
              </a:rPr>
              <a:t>(CNUDB)   surgió   para   comprometer   a   los   países desarrollados  en  el  reparto  equitativo  de  los  beneficios  derivados  de  los  recursos  biológicos. </a:t>
            </a:r>
            <a:endParaRPr/>
          </a:p>
        </p:txBody>
      </p:sp>
      <p:sp>
        <p:nvSpPr>
          <p:cNvPr id="285" name="Google Shape;285;p32"/>
          <p:cNvSpPr txBox="1"/>
          <p:nvPr/>
        </p:nvSpPr>
        <p:spPr>
          <a:xfrm>
            <a:off x="5715000" y="7789861"/>
            <a:ext cx="9144000"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500">
                <a:solidFill>
                  <a:schemeClr val="dk1"/>
                </a:solidFill>
                <a:latin typeface="Arial"/>
                <a:ea typeface="Arial"/>
                <a:cs typeface="Arial"/>
                <a:sym typeface="Arial"/>
              </a:rPr>
              <a:t>El primer gran resultado de la CMNUCC fue la aprobación del </a:t>
            </a:r>
            <a:r>
              <a:rPr i="1" lang="es-ES" sz="2500">
                <a:solidFill>
                  <a:schemeClr val="dk1"/>
                </a:solidFill>
                <a:latin typeface="Arial"/>
                <a:ea typeface="Arial"/>
                <a:cs typeface="Arial"/>
                <a:sym typeface="Arial"/>
              </a:rPr>
              <a:t>Protocolo de Kioto </a:t>
            </a:r>
            <a:r>
              <a:rPr lang="es-ES" sz="2500">
                <a:solidFill>
                  <a:schemeClr val="dk1"/>
                </a:solidFill>
                <a:latin typeface="Arial"/>
                <a:ea typeface="Arial"/>
                <a:cs typeface="Arial"/>
                <a:sym typeface="Arial"/>
              </a:rPr>
              <a:t>en 1997.</a:t>
            </a:r>
            <a:r>
              <a:rPr lang="es-ES" sz="2400">
                <a:solidFill>
                  <a:schemeClr val="dk1"/>
                </a:solidFill>
                <a:latin typeface="Arial"/>
                <a:ea typeface="Arial"/>
                <a:cs typeface="Arial"/>
                <a:sym typeface="Arial"/>
              </a:rPr>
              <a:t> Actualmente, el instrumento internacional más importante para mitigar el cambio climático es el </a:t>
            </a:r>
            <a:r>
              <a:rPr i="1" lang="es-ES" sz="2400">
                <a:solidFill>
                  <a:schemeClr val="dk1"/>
                </a:solidFill>
                <a:latin typeface="Arial"/>
                <a:ea typeface="Arial"/>
                <a:cs typeface="Arial"/>
                <a:sym typeface="Arial"/>
              </a:rPr>
              <a:t>Acuerdo de París</a:t>
            </a:r>
            <a:r>
              <a:rPr lang="es-ES" sz="2400">
                <a:solidFill>
                  <a:schemeClr val="dk1"/>
                </a:solidFill>
                <a:latin typeface="Arial"/>
                <a:ea typeface="Arial"/>
                <a:cs typeface="Arial"/>
                <a:sym typeface="Arial"/>
              </a:rPr>
              <a:t>.</a:t>
            </a:r>
            <a:endParaRPr sz="2500">
              <a:solidFill>
                <a:schemeClr val="dk1"/>
              </a:solidFill>
              <a:latin typeface="Arial"/>
              <a:ea typeface="Arial"/>
              <a:cs typeface="Arial"/>
              <a:sym typeface="Arial"/>
            </a:endParaRPr>
          </a:p>
        </p:txBody>
      </p:sp>
      <p:sp>
        <p:nvSpPr>
          <p:cNvPr id="286" name="Google Shape;286;p32"/>
          <p:cNvSpPr txBox="1"/>
          <p:nvPr/>
        </p:nvSpPr>
        <p:spPr>
          <a:xfrm>
            <a:off x="410497" y="5175052"/>
            <a:ext cx="9144000"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Arial"/>
                <a:ea typeface="Arial"/>
                <a:cs typeface="Arial"/>
                <a:sym typeface="Arial"/>
              </a:rPr>
              <a:t>La CMNUCC (</a:t>
            </a:r>
            <a:r>
              <a:rPr b="1" lang="es-ES" sz="2800">
                <a:solidFill>
                  <a:schemeClr val="dk1"/>
                </a:solidFill>
                <a:latin typeface="Arial"/>
                <a:ea typeface="Arial"/>
                <a:cs typeface="Arial"/>
                <a:sym typeface="Arial"/>
              </a:rPr>
              <a:t>Convención Marco de las Naciones Unidas sobre el Cambio Climático</a:t>
            </a:r>
            <a:r>
              <a:rPr lang="es-ES" sz="2800">
                <a:solidFill>
                  <a:schemeClr val="dk1"/>
                </a:solidFill>
                <a:latin typeface="Arial"/>
                <a:ea typeface="Arial"/>
                <a:cs typeface="Arial"/>
                <a:sym typeface="Arial"/>
              </a:rPr>
              <a:t>) entró en vigor en 1994. </a:t>
            </a:r>
            <a:endParaRPr/>
          </a:p>
        </p:txBody>
      </p:sp>
      <p:pic>
        <p:nvPicPr>
          <p:cNvPr descr="Imagen que contiene exterior, hombre, montar a caballo, tráfico&#10;&#10;Descripción generada automáticamente" id="287" name="Google Shape;287;p32"/>
          <p:cNvPicPr preferRelativeResize="0"/>
          <p:nvPr/>
        </p:nvPicPr>
        <p:blipFill rotWithShape="1">
          <a:blip r:embed="rId3">
            <a:alphaModFix/>
          </a:blip>
          <a:srcRect b="0" l="0" r="0" t="0"/>
          <a:stretch/>
        </p:blipFill>
        <p:spPr>
          <a:xfrm>
            <a:off x="2256299" y="6884970"/>
            <a:ext cx="2915674" cy="2186756"/>
          </a:xfrm>
          <a:prstGeom prst="rect">
            <a:avLst/>
          </a:prstGeom>
          <a:noFill/>
          <a:ln>
            <a:noFill/>
          </a:ln>
        </p:spPr>
      </p:pic>
      <p:pic>
        <p:nvPicPr>
          <p:cNvPr descr="Árbol de tres ramas" id="288" name="Google Shape;288;p32"/>
          <p:cNvPicPr preferRelativeResize="0"/>
          <p:nvPr/>
        </p:nvPicPr>
        <p:blipFill rotWithShape="1">
          <a:blip r:embed="rId4">
            <a:alphaModFix/>
          </a:blip>
          <a:srcRect b="0" l="0" r="0" t="0"/>
          <a:stretch/>
        </p:blipFill>
        <p:spPr>
          <a:xfrm>
            <a:off x="12573000" y="4266262"/>
            <a:ext cx="2673023" cy="3416321"/>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mano sujetando la bola" id="293" name="Google Shape;293;p33"/>
          <p:cNvPicPr preferRelativeResize="0"/>
          <p:nvPr/>
        </p:nvPicPr>
        <p:blipFill rotWithShape="1">
          <a:blip r:embed="rId3">
            <a:alphaModFix/>
          </a:blip>
          <a:srcRect b="11851" l="0" r="1" t="0"/>
          <a:stretch/>
        </p:blipFill>
        <p:spPr>
          <a:xfrm>
            <a:off x="7696200" y="4091445"/>
            <a:ext cx="9067800" cy="5315466"/>
          </a:xfrm>
          <a:prstGeom prst="rect">
            <a:avLst/>
          </a:prstGeom>
          <a:noFill/>
          <a:ln>
            <a:noFill/>
          </a:ln>
        </p:spPr>
      </p:pic>
      <p:pic>
        <p:nvPicPr>
          <p:cNvPr descr="Logotipo, nombre de la empresa&#10;&#10;Descripción generada automáticamente" id="294" name="Google Shape;294;p33"/>
          <p:cNvPicPr preferRelativeResize="0"/>
          <p:nvPr/>
        </p:nvPicPr>
        <p:blipFill rotWithShape="1">
          <a:blip r:embed="rId4">
            <a:alphaModFix/>
          </a:blip>
          <a:srcRect b="2" l="0" r="14657" t="0"/>
          <a:stretch/>
        </p:blipFill>
        <p:spPr>
          <a:xfrm>
            <a:off x="1143000" y="0"/>
            <a:ext cx="8458200" cy="5194265"/>
          </a:xfrm>
          <a:custGeom>
            <a:rect b="b" l="l" r="r" t="t"/>
            <a:pathLst>
              <a:path extrusionOk="0" h="3920044" w="6082711">
                <a:moveTo>
                  <a:pt x="0" y="0"/>
                </a:moveTo>
                <a:lnTo>
                  <a:pt x="6082711" y="0"/>
                </a:lnTo>
                <a:lnTo>
                  <a:pt x="6082711" y="3103225"/>
                </a:lnTo>
                <a:lnTo>
                  <a:pt x="4614930" y="3103225"/>
                </a:lnTo>
                <a:lnTo>
                  <a:pt x="4614930" y="3920044"/>
                </a:lnTo>
                <a:lnTo>
                  <a:pt x="0" y="3920044"/>
                </a:lnTo>
                <a:close/>
              </a:path>
            </a:pathLst>
          </a:custGeom>
          <a:noFill/>
          <a:ln>
            <a:noFill/>
          </a:ln>
        </p:spPr>
      </p:pic>
      <p:sp>
        <p:nvSpPr>
          <p:cNvPr id="295" name="Google Shape;295;p33"/>
          <p:cNvSpPr txBox="1"/>
          <p:nvPr/>
        </p:nvSpPr>
        <p:spPr>
          <a:xfrm>
            <a:off x="533400" y="5766170"/>
            <a:ext cx="6858000"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400">
                <a:solidFill>
                  <a:schemeClr val="dk1"/>
                </a:solidFill>
                <a:latin typeface="Arial"/>
                <a:ea typeface="Arial"/>
                <a:cs typeface="Arial"/>
                <a:sym typeface="Arial"/>
              </a:rPr>
              <a:t>En Río +20, se reunieron dirigentes mundiales, representantes del sector privado, organizaciones no gubernamentales y otros grupos con el objetivo de reafirmar el compromiso global con el desarrollo sostenible y la promoción de una economía verde. Fue un evento crucial para abordar los desafíos ambientales y trabajar juntos hacia un futuro más sostenible.</a:t>
            </a:r>
            <a:endParaRPr/>
          </a:p>
        </p:txBody>
      </p:sp>
      <p:sp>
        <p:nvSpPr>
          <p:cNvPr id="296" name="Google Shape;296;p33"/>
          <p:cNvSpPr txBox="1"/>
          <p:nvPr/>
        </p:nvSpPr>
        <p:spPr>
          <a:xfrm>
            <a:off x="10058400" y="952500"/>
            <a:ext cx="65532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5400">
                <a:solidFill>
                  <a:srgbClr val="3A7D22"/>
                </a:solidFill>
                <a:latin typeface="Overlock"/>
                <a:ea typeface="Overlock"/>
                <a:cs typeface="Overlock"/>
                <a:sym typeface="Overlock"/>
              </a:rPr>
              <a:t>1.5.2 La Conferencia Río +20 en el origen de la Agenda 2030</a:t>
            </a:r>
            <a:endParaRPr sz="5400">
              <a:solidFill>
                <a:srgbClr val="3A7D22"/>
              </a:solidFill>
              <a:latin typeface="Overlock"/>
              <a:ea typeface="Overlock"/>
              <a:cs typeface="Overlock"/>
              <a:sym typeface="Overlock"/>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Foto aérea de un río que fluye a través del bosque" id="301" name="Google Shape;301;p34"/>
          <p:cNvPicPr preferRelativeResize="0"/>
          <p:nvPr/>
        </p:nvPicPr>
        <p:blipFill rotWithShape="1">
          <a:blip r:embed="rId3">
            <a:alphaModFix/>
          </a:blip>
          <a:srcRect b="0" l="26950" r="6157" t="0"/>
          <a:stretch/>
        </p:blipFill>
        <p:spPr>
          <a:xfrm>
            <a:off x="17585" y="-190500"/>
            <a:ext cx="9174833" cy="9410690"/>
          </a:xfrm>
          <a:custGeom>
            <a:rect b="b" l="l" r="r" t="t"/>
            <a:pathLst>
              <a:path extrusionOk="0" h="6879321" w="6116569">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ln>
            <a:noFill/>
          </a:ln>
        </p:spPr>
      </p:pic>
      <p:sp>
        <p:nvSpPr>
          <p:cNvPr id="302" name="Google Shape;302;p34"/>
          <p:cNvSpPr txBox="1"/>
          <p:nvPr/>
        </p:nvSpPr>
        <p:spPr>
          <a:xfrm flipH="1">
            <a:off x="9144000" y="1309141"/>
            <a:ext cx="7620000" cy="25853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5400">
                <a:solidFill>
                  <a:srgbClr val="3A7D22"/>
                </a:solidFill>
                <a:latin typeface="Overlock"/>
                <a:ea typeface="Overlock"/>
                <a:cs typeface="Overlock"/>
                <a:sym typeface="Overlock"/>
              </a:rPr>
              <a:t>1.6. La Agenda 2030 y los objetivos de desarrollo sostenible</a:t>
            </a:r>
            <a:endParaRPr sz="5400">
              <a:solidFill>
                <a:srgbClr val="3A7D22"/>
              </a:solidFill>
              <a:latin typeface="Overlock"/>
              <a:ea typeface="Overlock"/>
              <a:cs typeface="Overlock"/>
              <a:sym typeface="Overlock"/>
            </a:endParaRPr>
          </a:p>
        </p:txBody>
      </p:sp>
      <p:sp>
        <p:nvSpPr>
          <p:cNvPr id="303" name="Google Shape;303;p34"/>
          <p:cNvSpPr txBox="1"/>
          <p:nvPr/>
        </p:nvSpPr>
        <p:spPr>
          <a:xfrm>
            <a:off x="8610600" y="5203595"/>
            <a:ext cx="876300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Arial"/>
                <a:ea typeface="Arial"/>
                <a:cs typeface="Arial"/>
                <a:sym typeface="Arial"/>
              </a:rPr>
              <a:t>La Agenda 2030 contiene una relación de objetivos que las Naciones Unidas pretenden conseguir para el año 2030. Concretamente, se trata de 17 objetivos relacionados con el desarrollo sostenible del planeta.</a:t>
            </a:r>
            <a:endParaRPr sz="2800">
              <a:solidFill>
                <a:schemeClr val="dk1"/>
              </a:solidFill>
              <a:latin typeface="Arial"/>
              <a:ea typeface="Arial"/>
              <a:cs typeface="Arial"/>
              <a:sym typeface="Arial"/>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35"/>
          <p:cNvPicPr preferRelativeResize="0"/>
          <p:nvPr>
            <p:ph idx="1" type="body"/>
          </p:nvPr>
        </p:nvPicPr>
        <p:blipFill rotWithShape="1">
          <a:blip r:embed="rId3">
            <a:alphaModFix/>
          </a:blip>
          <a:srcRect b="0" l="0" r="0" t="0"/>
          <a:stretch/>
        </p:blipFill>
        <p:spPr>
          <a:xfrm>
            <a:off x="10210800" y="1714500"/>
            <a:ext cx="7310437" cy="7310437"/>
          </a:xfrm>
          <a:prstGeom prst="rect">
            <a:avLst/>
          </a:prstGeom>
          <a:noFill/>
          <a:ln>
            <a:noFill/>
          </a:ln>
        </p:spPr>
      </p:pic>
      <p:grpSp>
        <p:nvGrpSpPr>
          <p:cNvPr id="309" name="Google Shape;309;p35"/>
          <p:cNvGrpSpPr/>
          <p:nvPr/>
        </p:nvGrpSpPr>
        <p:grpSpPr>
          <a:xfrm>
            <a:off x="1376376" y="1096657"/>
            <a:ext cx="7991447" cy="8093682"/>
            <a:chOff x="80976" y="420"/>
            <a:chExt cx="7991447" cy="8093682"/>
          </a:xfrm>
        </p:grpSpPr>
        <p:sp>
          <p:nvSpPr>
            <p:cNvPr id="310" name="Google Shape;310;p35"/>
            <p:cNvSpPr/>
            <p:nvPr/>
          </p:nvSpPr>
          <p:spPr>
            <a:xfrm>
              <a:off x="1783109" y="465880"/>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5"/>
            <p:cNvSpPr txBox="1"/>
            <p:nvPr/>
          </p:nvSpPr>
          <p:spPr>
            <a:xfrm>
              <a:off x="1953964" y="509641"/>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12" name="Google Shape;312;p35"/>
            <p:cNvSpPr/>
            <p:nvPr/>
          </p:nvSpPr>
          <p:spPr>
            <a:xfrm>
              <a:off x="80976" y="420"/>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5"/>
            <p:cNvSpPr txBox="1"/>
            <p:nvPr/>
          </p:nvSpPr>
          <p:spPr>
            <a:xfrm>
              <a:off x="80976" y="420"/>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rgbClr val="FFFF00"/>
                </a:buClr>
                <a:buSzPts val="1500"/>
                <a:buFont typeface="Arial"/>
                <a:buNone/>
              </a:pPr>
              <a:r>
                <a:rPr b="1" lang="es-ES" sz="1500">
                  <a:solidFill>
                    <a:srgbClr val="FFFF00"/>
                  </a:solidFill>
                  <a:latin typeface="Arial"/>
                  <a:ea typeface="Arial"/>
                  <a:cs typeface="Arial"/>
                  <a:sym typeface="Arial"/>
                </a:rPr>
                <a:t>En la dimensión ambiental, destacan los ODS:</a:t>
              </a:r>
              <a:endParaRPr sz="1500">
                <a:solidFill>
                  <a:srgbClr val="FFFF00"/>
                </a:solidFill>
                <a:latin typeface="Arial"/>
                <a:ea typeface="Arial"/>
                <a:cs typeface="Arial"/>
                <a:sym typeface="Arial"/>
              </a:endParaRPr>
            </a:p>
          </p:txBody>
        </p:sp>
        <p:sp>
          <p:nvSpPr>
            <p:cNvPr id="314" name="Google Shape;314;p35"/>
            <p:cNvSpPr/>
            <p:nvPr/>
          </p:nvSpPr>
          <p:spPr>
            <a:xfrm>
              <a:off x="3878947" y="465880"/>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5"/>
            <p:cNvSpPr txBox="1"/>
            <p:nvPr/>
          </p:nvSpPr>
          <p:spPr>
            <a:xfrm>
              <a:off x="4049802" y="509641"/>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16" name="Google Shape;316;p35"/>
            <p:cNvSpPr/>
            <p:nvPr/>
          </p:nvSpPr>
          <p:spPr>
            <a:xfrm>
              <a:off x="2176814" y="420"/>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5"/>
            <p:cNvSpPr txBox="1"/>
            <p:nvPr/>
          </p:nvSpPr>
          <p:spPr>
            <a:xfrm>
              <a:off x="2176814" y="420"/>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6. Agua limpia y saneamiento. </a:t>
              </a:r>
              <a:endParaRPr sz="1500">
                <a:solidFill>
                  <a:schemeClr val="lt1"/>
                </a:solidFill>
                <a:latin typeface="Arial"/>
                <a:ea typeface="Arial"/>
                <a:cs typeface="Arial"/>
                <a:sym typeface="Arial"/>
              </a:endParaRPr>
            </a:p>
          </p:txBody>
        </p:sp>
        <p:sp>
          <p:nvSpPr>
            <p:cNvPr id="318" name="Google Shape;318;p35"/>
            <p:cNvSpPr/>
            <p:nvPr/>
          </p:nvSpPr>
          <p:spPr>
            <a:xfrm>
              <a:off x="5974785" y="465880"/>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
            <p:cNvSpPr txBox="1"/>
            <p:nvPr/>
          </p:nvSpPr>
          <p:spPr>
            <a:xfrm>
              <a:off x="6145640" y="509641"/>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20" name="Google Shape;320;p35"/>
            <p:cNvSpPr/>
            <p:nvPr/>
          </p:nvSpPr>
          <p:spPr>
            <a:xfrm>
              <a:off x="4272652" y="420"/>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5"/>
            <p:cNvSpPr txBox="1"/>
            <p:nvPr/>
          </p:nvSpPr>
          <p:spPr>
            <a:xfrm>
              <a:off x="4272652" y="420"/>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7. Energía asequible y no contaminante. </a:t>
              </a:r>
              <a:endParaRPr sz="1500">
                <a:solidFill>
                  <a:schemeClr val="lt1"/>
                </a:solidFill>
                <a:latin typeface="Arial"/>
                <a:ea typeface="Arial"/>
                <a:cs typeface="Arial"/>
                <a:sym typeface="Arial"/>
              </a:endParaRPr>
            </a:p>
          </p:txBody>
        </p:sp>
        <p:sp>
          <p:nvSpPr>
            <p:cNvPr id="322" name="Google Shape;322;p35"/>
            <p:cNvSpPr/>
            <p:nvPr/>
          </p:nvSpPr>
          <p:spPr>
            <a:xfrm>
              <a:off x="932943" y="1020980"/>
              <a:ext cx="6287513" cy="361304"/>
            </a:xfrm>
            <a:custGeom>
              <a:rect b="b" l="l" r="r" t="t"/>
              <a:pathLst>
                <a:path extrusionOk="0" h="120000" w="120000">
                  <a:moveTo>
                    <a:pt x="120000" y="0"/>
                  </a:moveTo>
                  <a:lnTo>
                    <a:pt x="120000" y="65679"/>
                  </a:lnTo>
                  <a:lnTo>
                    <a:pt x="0" y="65679"/>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5"/>
            <p:cNvSpPr txBox="1"/>
            <p:nvPr/>
          </p:nvSpPr>
          <p:spPr>
            <a:xfrm>
              <a:off x="3919207" y="1199673"/>
              <a:ext cx="31498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24" name="Google Shape;324;p35"/>
            <p:cNvSpPr/>
            <p:nvPr/>
          </p:nvSpPr>
          <p:spPr>
            <a:xfrm>
              <a:off x="6368490" y="420"/>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5"/>
            <p:cNvSpPr txBox="1"/>
            <p:nvPr/>
          </p:nvSpPr>
          <p:spPr>
            <a:xfrm>
              <a:off x="6368490" y="420"/>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9. Industria, innovación e infraestructura.</a:t>
              </a:r>
              <a:endParaRPr sz="1500">
                <a:solidFill>
                  <a:schemeClr val="lt1"/>
                </a:solidFill>
                <a:latin typeface="Arial"/>
                <a:ea typeface="Arial"/>
                <a:cs typeface="Arial"/>
                <a:sym typeface="Arial"/>
              </a:endParaRPr>
            </a:p>
          </p:txBody>
        </p:sp>
        <p:sp>
          <p:nvSpPr>
            <p:cNvPr id="326" name="Google Shape;326;p35"/>
            <p:cNvSpPr/>
            <p:nvPr/>
          </p:nvSpPr>
          <p:spPr>
            <a:xfrm>
              <a:off x="1783109" y="1880145"/>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5"/>
            <p:cNvSpPr txBox="1"/>
            <p:nvPr/>
          </p:nvSpPr>
          <p:spPr>
            <a:xfrm>
              <a:off x="1953964" y="1923905"/>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28" name="Google Shape;328;p35"/>
            <p:cNvSpPr/>
            <p:nvPr/>
          </p:nvSpPr>
          <p:spPr>
            <a:xfrm>
              <a:off x="80976" y="1414685"/>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5"/>
            <p:cNvSpPr txBox="1"/>
            <p:nvPr/>
          </p:nvSpPr>
          <p:spPr>
            <a:xfrm>
              <a:off x="80976" y="1414685"/>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11. Ciudades y comunidades sostenibles. </a:t>
              </a:r>
              <a:endParaRPr sz="1500">
                <a:solidFill>
                  <a:schemeClr val="lt1"/>
                </a:solidFill>
                <a:latin typeface="Arial"/>
                <a:ea typeface="Arial"/>
                <a:cs typeface="Arial"/>
                <a:sym typeface="Arial"/>
              </a:endParaRPr>
            </a:p>
          </p:txBody>
        </p:sp>
        <p:sp>
          <p:nvSpPr>
            <p:cNvPr id="330" name="Google Shape;330;p35"/>
            <p:cNvSpPr/>
            <p:nvPr/>
          </p:nvSpPr>
          <p:spPr>
            <a:xfrm>
              <a:off x="3878947" y="1880145"/>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5"/>
            <p:cNvSpPr txBox="1"/>
            <p:nvPr/>
          </p:nvSpPr>
          <p:spPr>
            <a:xfrm>
              <a:off x="4049802" y="1923905"/>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32" name="Google Shape;332;p35"/>
            <p:cNvSpPr/>
            <p:nvPr/>
          </p:nvSpPr>
          <p:spPr>
            <a:xfrm>
              <a:off x="2176814" y="1414685"/>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5"/>
            <p:cNvSpPr txBox="1"/>
            <p:nvPr/>
          </p:nvSpPr>
          <p:spPr>
            <a:xfrm>
              <a:off x="2176814" y="1414685"/>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12. Producción y consumo responsable.</a:t>
              </a:r>
              <a:endParaRPr sz="1500">
                <a:solidFill>
                  <a:schemeClr val="lt1"/>
                </a:solidFill>
                <a:latin typeface="Arial"/>
                <a:ea typeface="Arial"/>
                <a:cs typeface="Arial"/>
                <a:sym typeface="Arial"/>
              </a:endParaRPr>
            </a:p>
          </p:txBody>
        </p:sp>
        <p:sp>
          <p:nvSpPr>
            <p:cNvPr id="334" name="Google Shape;334;p35"/>
            <p:cNvSpPr/>
            <p:nvPr/>
          </p:nvSpPr>
          <p:spPr>
            <a:xfrm>
              <a:off x="5974785" y="1880145"/>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5"/>
            <p:cNvSpPr txBox="1"/>
            <p:nvPr/>
          </p:nvSpPr>
          <p:spPr>
            <a:xfrm>
              <a:off x="6145640" y="1923905"/>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36" name="Google Shape;336;p35"/>
            <p:cNvSpPr/>
            <p:nvPr/>
          </p:nvSpPr>
          <p:spPr>
            <a:xfrm>
              <a:off x="4272652" y="1414685"/>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5"/>
            <p:cNvSpPr txBox="1"/>
            <p:nvPr/>
          </p:nvSpPr>
          <p:spPr>
            <a:xfrm>
              <a:off x="4272652" y="1414685"/>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13. Acción por el clima.</a:t>
              </a:r>
              <a:endParaRPr sz="1500">
                <a:solidFill>
                  <a:schemeClr val="lt1"/>
                </a:solidFill>
                <a:latin typeface="Arial"/>
                <a:ea typeface="Arial"/>
                <a:cs typeface="Arial"/>
                <a:sym typeface="Arial"/>
              </a:endParaRPr>
            </a:p>
          </p:txBody>
        </p:sp>
        <p:sp>
          <p:nvSpPr>
            <p:cNvPr id="338" name="Google Shape;338;p35"/>
            <p:cNvSpPr/>
            <p:nvPr/>
          </p:nvSpPr>
          <p:spPr>
            <a:xfrm>
              <a:off x="932943" y="2435245"/>
              <a:ext cx="6287513" cy="361304"/>
            </a:xfrm>
            <a:custGeom>
              <a:rect b="b" l="l" r="r" t="t"/>
              <a:pathLst>
                <a:path extrusionOk="0" h="120000" w="120000">
                  <a:moveTo>
                    <a:pt x="120000" y="0"/>
                  </a:moveTo>
                  <a:lnTo>
                    <a:pt x="120000" y="65679"/>
                  </a:lnTo>
                  <a:lnTo>
                    <a:pt x="0" y="65679"/>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5"/>
            <p:cNvSpPr txBox="1"/>
            <p:nvPr/>
          </p:nvSpPr>
          <p:spPr>
            <a:xfrm>
              <a:off x="3919207" y="2613937"/>
              <a:ext cx="31498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40" name="Google Shape;340;p35"/>
            <p:cNvSpPr/>
            <p:nvPr/>
          </p:nvSpPr>
          <p:spPr>
            <a:xfrm>
              <a:off x="6368490" y="1414685"/>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5"/>
            <p:cNvSpPr txBox="1"/>
            <p:nvPr/>
          </p:nvSpPr>
          <p:spPr>
            <a:xfrm>
              <a:off x="6368490" y="1414685"/>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14. Vida submarina.</a:t>
              </a:r>
              <a:endParaRPr sz="1500">
                <a:solidFill>
                  <a:schemeClr val="lt1"/>
                </a:solidFill>
                <a:latin typeface="Arial"/>
                <a:ea typeface="Arial"/>
                <a:cs typeface="Arial"/>
                <a:sym typeface="Arial"/>
              </a:endParaRPr>
            </a:p>
          </p:txBody>
        </p:sp>
        <p:sp>
          <p:nvSpPr>
            <p:cNvPr id="342" name="Google Shape;342;p35"/>
            <p:cNvSpPr/>
            <p:nvPr/>
          </p:nvSpPr>
          <p:spPr>
            <a:xfrm>
              <a:off x="1783109" y="3294409"/>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5"/>
            <p:cNvSpPr txBox="1"/>
            <p:nvPr/>
          </p:nvSpPr>
          <p:spPr>
            <a:xfrm>
              <a:off x="1953964" y="3338170"/>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44" name="Google Shape;344;p35"/>
            <p:cNvSpPr/>
            <p:nvPr/>
          </p:nvSpPr>
          <p:spPr>
            <a:xfrm>
              <a:off x="80976" y="2828949"/>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5"/>
            <p:cNvSpPr txBox="1"/>
            <p:nvPr/>
          </p:nvSpPr>
          <p:spPr>
            <a:xfrm>
              <a:off x="80976" y="2828949"/>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15. Vida de ecosistemas terrestres. </a:t>
              </a:r>
              <a:endParaRPr sz="1500">
                <a:solidFill>
                  <a:schemeClr val="lt1"/>
                </a:solidFill>
                <a:latin typeface="Arial"/>
                <a:ea typeface="Arial"/>
                <a:cs typeface="Arial"/>
                <a:sym typeface="Arial"/>
              </a:endParaRPr>
            </a:p>
          </p:txBody>
        </p:sp>
        <p:sp>
          <p:nvSpPr>
            <p:cNvPr id="346" name="Google Shape;346;p35"/>
            <p:cNvSpPr/>
            <p:nvPr/>
          </p:nvSpPr>
          <p:spPr>
            <a:xfrm>
              <a:off x="3878947" y="3294409"/>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5"/>
            <p:cNvSpPr txBox="1"/>
            <p:nvPr/>
          </p:nvSpPr>
          <p:spPr>
            <a:xfrm>
              <a:off x="4049802" y="3338170"/>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48" name="Google Shape;348;p35"/>
            <p:cNvSpPr/>
            <p:nvPr/>
          </p:nvSpPr>
          <p:spPr>
            <a:xfrm>
              <a:off x="2176814" y="2828949"/>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5"/>
            <p:cNvSpPr txBox="1"/>
            <p:nvPr/>
          </p:nvSpPr>
          <p:spPr>
            <a:xfrm>
              <a:off x="2176814" y="2828949"/>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16. Paz, justicia e instituciones sólidas.</a:t>
              </a:r>
              <a:endParaRPr sz="1500">
                <a:solidFill>
                  <a:schemeClr val="lt1"/>
                </a:solidFill>
                <a:latin typeface="Arial"/>
                <a:ea typeface="Arial"/>
                <a:cs typeface="Arial"/>
                <a:sym typeface="Arial"/>
              </a:endParaRPr>
            </a:p>
          </p:txBody>
        </p:sp>
        <p:sp>
          <p:nvSpPr>
            <p:cNvPr id="350" name="Google Shape;350;p35"/>
            <p:cNvSpPr/>
            <p:nvPr/>
          </p:nvSpPr>
          <p:spPr>
            <a:xfrm>
              <a:off x="5974785" y="3294409"/>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5"/>
            <p:cNvSpPr txBox="1"/>
            <p:nvPr/>
          </p:nvSpPr>
          <p:spPr>
            <a:xfrm>
              <a:off x="6145640" y="3338170"/>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52" name="Google Shape;352;p35"/>
            <p:cNvSpPr/>
            <p:nvPr/>
          </p:nvSpPr>
          <p:spPr>
            <a:xfrm>
              <a:off x="4272652" y="2828949"/>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5"/>
            <p:cNvSpPr txBox="1"/>
            <p:nvPr/>
          </p:nvSpPr>
          <p:spPr>
            <a:xfrm>
              <a:off x="4272652" y="2828949"/>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rgbClr val="FFFF00"/>
                </a:buClr>
                <a:buSzPts val="1500"/>
                <a:buFont typeface="Arial"/>
                <a:buNone/>
              </a:pPr>
              <a:r>
                <a:rPr b="1" lang="es-ES" sz="1500">
                  <a:solidFill>
                    <a:srgbClr val="FFFF00"/>
                  </a:solidFill>
                  <a:latin typeface="Arial"/>
                  <a:ea typeface="Arial"/>
                  <a:cs typeface="Arial"/>
                  <a:sym typeface="Arial"/>
                </a:rPr>
                <a:t>Dentro de la dimensión social, encajan los ODS:</a:t>
              </a:r>
              <a:endParaRPr sz="1500">
                <a:solidFill>
                  <a:srgbClr val="FFFF00"/>
                </a:solidFill>
                <a:latin typeface="Arial"/>
                <a:ea typeface="Arial"/>
                <a:cs typeface="Arial"/>
                <a:sym typeface="Arial"/>
              </a:endParaRPr>
            </a:p>
          </p:txBody>
        </p:sp>
        <p:sp>
          <p:nvSpPr>
            <p:cNvPr id="354" name="Google Shape;354;p35"/>
            <p:cNvSpPr/>
            <p:nvPr/>
          </p:nvSpPr>
          <p:spPr>
            <a:xfrm>
              <a:off x="932943" y="3849509"/>
              <a:ext cx="6287513" cy="361304"/>
            </a:xfrm>
            <a:custGeom>
              <a:rect b="b" l="l" r="r" t="t"/>
              <a:pathLst>
                <a:path extrusionOk="0" h="120000" w="120000">
                  <a:moveTo>
                    <a:pt x="120000" y="0"/>
                  </a:moveTo>
                  <a:lnTo>
                    <a:pt x="120000" y="65679"/>
                  </a:lnTo>
                  <a:lnTo>
                    <a:pt x="0" y="65679"/>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5"/>
            <p:cNvSpPr txBox="1"/>
            <p:nvPr/>
          </p:nvSpPr>
          <p:spPr>
            <a:xfrm>
              <a:off x="3919207" y="4028202"/>
              <a:ext cx="31498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56" name="Google Shape;356;p35"/>
            <p:cNvSpPr/>
            <p:nvPr/>
          </p:nvSpPr>
          <p:spPr>
            <a:xfrm>
              <a:off x="6368490" y="2828949"/>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nvSpPr>
          <p:spPr>
            <a:xfrm>
              <a:off x="6368490" y="2828949"/>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 Fin de la pobreza.</a:t>
              </a:r>
              <a:endParaRPr sz="1500">
                <a:solidFill>
                  <a:schemeClr val="lt1"/>
                </a:solidFill>
                <a:latin typeface="Arial"/>
                <a:ea typeface="Arial"/>
                <a:cs typeface="Arial"/>
                <a:sym typeface="Arial"/>
              </a:endParaRPr>
            </a:p>
          </p:txBody>
        </p:sp>
        <p:sp>
          <p:nvSpPr>
            <p:cNvPr id="358" name="Google Shape;358;p35"/>
            <p:cNvSpPr/>
            <p:nvPr/>
          </p:nvSpPr>
          <p:spPr>
            <a:xfrm>
              <a:off x="1783109" y="4708674"/>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5"/>
            <p:cNvSpPr txBox="1"/>
            <p:nvPr/>
          </p:nvSpPr>
          <p:spPr>
            <a:xfrm>
              <a:off x="1953964" y="4752434"/>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60" name="Google Shape;360;p35"/>
            <p:cNvSpPr/>
            <p:nvPr/>
          </p:nvSpPr>
          <p:spPr>
            <a:xfrm>
              <a:off x="80976" y="4243214"/>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5"/>
            <p:cNvSpPr txBox="1"/>
            <p:nvPr/>
          </p:nvSpPr>
          <p:spPr>
            <a:xfrm>
              <a:off x="80976" y="4243214"/>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2. Hambre cero.</a:t>
              </a:r>
              <a:endParaRPr sz="1500">
                <a:solidFill>
                  <a:schemeClr val="lt1"/>
                </a:solidFill>
                <a:latin typeface="Arial"/>
                <a:ea typeface="Arial"/>
                <a:cs typeface="Arial"/>
                <a:sym typeface="Arial"/>
              </a:endParaRPr>
            </a:p>
          </p:txBody>
        </p:sp>
        <p:sp>
          <p:nvSpPr>
            <p:cNvPr id="362" name="Google Shape;362;p35"/>
            <p:cNvSpPr/>
            <p:nvPr/>
          </p:nvSpPr>
          <p:spPr>
            <a:xfrm>
              <a:off x="3878947" y="4708674"/>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5"/>
            <p:cNvSpPr txBox="1"/>
            <p:nvPr/>
          </p:nvSpPr>
          <p:spPr>
            <a:xfrm>
              <a:off x="4049802" y="4752434"/>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64" name="Google Shape;364;p35"/>
            <p:cNvSpPr/>
            <p:nvPr/>
          </p:nvSpPr>
          <p:spPr>
            <a:xfrm>
              <a:off x="2176814" y="4243214"/>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5"/>
            <p:cNvSpPr txBox="1"/>
            <p:nvPr/>
          </p:nvSpPr>
          <p:spPr>
            <a:xfrm>
              <a:off x="2176814" y="4243214"/>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3. Salud y bienestar. </a:t>
              </a:r>
              <a:endParaRPr sz="1500">
                <a:solidFill>
                  <a:schemeClr val="lt1"/>
                </a:solidFill>
                <a:latin typeface="Arial"/>
                <a:ea typeface="Arial"/>
                <a:cs typeface="Arial"/>
                <a:sym typeface="Arial"/>
              </a:endParaRPr>
            </a:p>
          </p:txBody>
        </p:sp>
        <p:sp>
          <p:nvSpPr>
            <p:cNvPr id="366" name="Google Shape;366;p35"/>
            <p:cNvSpPr/>
            <p:nvPr/>
          </p:nvSpPr>
          <p:spPr>
            <a:xfrm>
              <a:off x="5974785" y="4708674"/>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5"/>
            <p:cNvSpPr txBox="1"/>
            <p:nvPr/>
          </p:nvSpPr>
          <p:spPr>
            <a:xfrm>
              <a:off x="6145640" y="4752434"/>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68" name="Google Shape;368;p35"/>
            <p:cNvSpPr/>
            <p:nvPr/>
          </p:nvSpPr>
          <p:spPr>
            <a:xfrm>
              <a:off x="4272652" y="4243214"/>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5"/>
            <p:cNvSpPr txBox="1"/>
            <p:nvPr/>
          </p:nvSpPr>
          <p:spPr>
            <a:xfrm>
              <a:off x="4272652" y="4243214"/>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4. Educación de calidad. </a:t>
              </a:r>
              <a:endParaRPr sz="1500">
                <a:solidFill>
                  <a:schemeClr val="lt1"/>
                </a:solidFill>
                <a:latin typeface="Arial"/>
                <a:ea typeface="Arial"/>
                <a:cs typeface="Arial"/>
                <a:sym typeface="Arial"/>
              </a:endParaRPr>
            </a:p>
          </p:txBody>
        </p:sp>
        <p:sp>
          <p:nvSpPr>
            <p:cNvPr id="370" name="Google Shape;370;p35"/>
            <p:cNvSpPr/>
            <p:nvPr/>
          </p:nvSpPr>
          <p:spPr>
            <a:xfrm>
              <a:off x="932943" y="5263774"/>
              <a:ext cx="6287513" cy="361304"/>
            </a:xfrm>
            <a:custGeom>
              <a:rect b="b" l="l" r="r" t="t"/>
              <a:pathLst>
                <a:path extrusionOk="0" h="120000" w="120000">
                  <a:moveTo>
                    <a:pt x="120000" y="0"/>
                  </a:moveTo>
                  <a:lnTo>
                    <a:pt x="120000" y="65679"/>
                  </a:lnTo>
                  <a:lnTo>
                    <a:pt x="0" y="65679"/>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5"/>
            <p:cNvSpPr txBox="1"/>
            <p:nvPr/>
          </p:nvSpPr>
          <p:spPr>
            <a:xfrm>
              <a:off x="3919207" y="5442467"/>
              <a:ext cx="31498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72" name="Google Shape;372;p35"/>
            <p:cNvSpPr/>
            <p:nvPr/>
          </p:nvSpPr>
          <p:spPr>
            <a:xfrm>
              <a:off x="6368490" y="4243214"/>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5"/>
            <p:cNvSpPr txBox="1"/>
            <p:nvPr/>
          </p:nvSpPr>
          <p:spPr>
            <a:xfrm>
              <a:off x="6368490" y="4243214"/>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5. Igualdad de género. </a:t>
              </a:r>
              <a:endParaRPr sz="1500">
                <a:solidFill>
                  <a:schemeClr val="lt1"/>
                </a:solidFill>
                <a:latin typeface="Arial"/>
                <a:ea typeface="Arial"/>
                <a:cs typeface="Arial"/>
                <a:sym typeface="Arial"/>
              </a:endParaRPr>
            </a:p>
          </p:txBody>
        </p:sp>
        <p:sp>
          <p:nvSpPr>
            <p:cNvPr id="374" name="Google Shape;374;p35"/>
            <p:cNvSpPr/>
            <p:nvPr/>
          </p:nvSpPr>
          <p:spPr>
            <a:xfrm>
              <a:off x="1783109" y="6122938"/>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5"/>
            <p:cNvSpPr txBox="1"/>
            <p:nvPr/>
          </p:nvSpPr>
          <p:spPr>
            <a:xfrm>
              <a:off x="1953964" y="6166699"/>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76" name="Google Shape;376;p35"/>
            <p:cNvSpPr/>
            <p:nvPr/>
          </p:nvSpPr>
          <p:spPr>
            <a:xfrm>
              <a:off x="80976" y="5657478"/>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5"/>
            <p:cNvSpPr txBox="1"/>
            <p:nvPr/>
          </p:nvSpPr>
          <p:spPr>
            <a:xfrm>
              <a:off x="80976" y="5657478"/>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8. Trabajo decente y crecimiento económico.</a:t>
              </a:r>
              <a:endParaRPr sz="1500">
                <a:solidFill>
                  <a:schemeClr val="lt1"/>
                </a:solidFill>
                <a:latin typeface="Arial"/>
                <a:ea typeface="Arial"/>
                <a:cs typeface="Arial"/>
                <a:sym typeface="Arial"/>
              </a:endParaRPr>
            </a:p>
          </p:txBody>
        </p:sp>
        <p:sp>
          <p:nvSpPr>
            <p:cNvPr id="378" name="Google Shape;378;p35"/>
            <p:cNvSpPr/>
            <p:nvPr/>
          </p:nvSpPr>
          <p:spPr>
            <a:xfrm>
              <a:off x="3878947" y="6122938"/>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5"/>
            <p:cNvSpPr txBox="1"/>
            <p:nvPr/>
          </p:nvSpPr>
          <p:spPr>
            <a:xfrm>
              <a:off x="4049802" y="6166699"/>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80" name="Google Shape;380;p35"/>
            <p:cNvSpPr/>
            <p:nvPr/>
          </p:nvSpPr>
          <p:spPr>
            <a:xfrm>
              <a:off x="2176814" y="5657478"/>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5"/>
            <p:cNvSpPr txBox="1"/>
            <p:nvPr/>
          </p:nvSpPr>
          <p:spPr>
            <a:xfrm>
              <a:off x="2176814" y="5657478"/>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9. Industria, innovación e infraestructura. </a:t>
              </a:r>
              <a:endParaRPr sz="1500">
                <a:solidFill>
                  <a:schemeClr val="lt1"/>
                </a:solidFill>
                <a:latin typeface="Arial"/>
                <a:ea typeface="Arial"/>
                <a:cs typeface="Arial"/>
                <a:sym typeface="Arial"/>
              </a:endParaRPr>
            </a:p>
          </p:txBody>
        </p:sp>
        <p:sp>
          <p:nvSpPr>
            <p:cNvPr id="382" name="Google Shape;382;p35"/>
            <p:cNvSpPr/>
            <p:nvPr/>
          </p:nvSpPr>
          <p:spPr>
            <a:xfrm>
              <a:off x="5974785" y="6122938"/>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5"/>
            <p:cNvSpPr txBox="1"/>
            <p:nvPr/>
          </p:nvSpPr>
          <p:spPr>
            <a:xfrm>
              <a:off x="6145640" y="6166699"/>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84" name="Google Shape;384;p35"/>
            <p:cNvSpPr/>
            <p:nvPr/>
          </p:nvSpPr>
          <p:spPr>
            <a:xfrm>
              <a:off x="4272652" y="5657478"/>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5"/>
            <p:cNvSpPr txBox="1"/>
            <p:nvPr/>
          </p:nvSpPr>
          <p:spPr>
            <a:xfrm>
              <a:off x="4272652" y="5657478"/>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10. Reducción de las desigualdades. </a:t>
              </a:r>
              <a:endParaRPr sz="1500">
                <a:solidFill>
                  <a:schemeClr val="lt1"/>
                </a:solidFill>
                <a:latin typeface="Arial"/>
                <a:ea typeface="Arial"/>
                <a:cs typeface="Arial"/>
                <a:sym typeface="Arial"/>
              </a:endParaRPr>
            </a:p>
          </p:txBody>
        </p:sp>
        <p:sp>
          <p:nvSpPr>
            <p:cNvPr id="386" name="Google Shape;386;p35"/>
            <p:cNvSpPr/>
            <p:nvPr/>
          </p:nvSpPr>
          <p:spPr>
            <a:xfrm>
              <a:off x="932943" y="6678038"/>
              <a:ext cx="6287513" cy="361304"/>
            </a:xfrm>
            <a:custGeom>
              <a:rect b="b" l="l" r="r" t="t"/>
              <a:pathLst>
                <a:path extrusionOk="0" h="120000" w="120000">
                  <a:moveTo>
                    <a:pt x="120000" y="0"/>
                  </a:moveTo>
                  <a:lnTo>
                    <a:pt x="120000" y="65679"/>
                  </a:lnTo>
                  <a:lnTo>
                    <a:pt x="0" y="65679"/>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5"/>
            <p:cNvSpPr txBox="1"/>
            <p:nvPr/>
          </p:nvSpPr>
          <p:spPr>
            <a:xfrm>
              <a:off x="3919207" y="6856731"/>
              <a:ext cx="31498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88" name="Google Shape;388;p35"/>
            <p:cNvSpPr/>
            <p:nvPr/>
          </p:nvSpPr>
          <p:spPr>
            <a:xfrm>
              <a:off x="6368490" y="5657478"/>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5"/>
            <p:cNvSpPr txBox="1"/>
            <p:nvPr/>
          </p:nvSpPr>
          <p:spPr>
            <a:xfrm>
              <a:off x="6368490" y="5657478"/>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11. Ciudades y comunidades sostenibles. </a:t>
              </a:r>
              <a:endParaRPr sz="1500">
                <a:solidFill>
                  <a:schemeClr val="lt1"/>
                </a:solidFill>
                <a:latin typeface="Arial"/>
                <a:ea typeface="Arial"/>
                <a:cs typeface="Arial"/>
                <a:sym typeface="Arial"/>
              </a:endParaRPr>
            </a:p>
          </p:txBody>
        </p:sp>
        <p:sp>
          <p:nvSpPr>
            <p:cNvPr id="390" name="Google Shape;390;p35"/>
            <p:cNvSpPr/>
            <p:nvPr/>
          </p:nvSpPr>
          <p:spPr>
            <a:xfrm>
              <a:off x="1783109" y="7537203"/>
              <a:ext cx="361304"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5"/>
            <p:cNvSpPr txBox="1"/>
            <p:nvPr/>
          </p:nvSpPr>
          <p:spPr>
            <a:xfrm>
              <a:off x="1953964" y="7580963"/>
              <a:ext cx="19595" cy="391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392" name="Google Shape;392;p35"/>
            <p:cNvSpPr/>
            <p:nvPr/>
          </p:nvSpPr>
          <p:spPr>
            <a:xfrm>
              <a:off x="80976" y="7071743"/>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txBox="1"/>
            <p:nvPr/>
          </p:nvSpPr>
          <p:spPr>
            <a:xfrm>
              <a:off x="80976" y="7071743"/>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12. Producción y consumo responsable. </a:t>
              </a:r>
              <a:endParaRPr sz="1500">
                <a:solidFill>
                  <a:schemeClr val="lt1"/>
                </a:solidFill>
                <a:latin typeface="Arial"/>
                <a:ea typeface="Arial"/>
                <a:cs typeface="Arial"/>
                <a:sym typeface="Arial"/>
              </a:endParaRPr>
            </a:p>
          </p:txBody>
        </p:sp>
        <p:sp>
          <p:nvSpPr>
            <p:cNvPr id="394" name="Google Shape;394;p35"/>
            <p:cNvSpPr/>
            <p:nvPr/>
          </p:nvSpPr>
          <p:spPr>
            <a:xfrm>
              <a:off x="2176814" y="7071743"/>
              <a:ext cx="1703933" cy="102235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5"/>
            <p:cNvSpPr txBox="1"/>
            <p:nvPr/>
          </p:nvSpPr>
          <p:spPr>
            <a:xfrm>
              <a:off x="2176814" y="7071743"/>
              <a:ext cx="1703933" cy="1022359"/>
            </a:xfrm>
            <a:prstGeom prst="rect">
              <a:avLst/>
            </a:prstGeom>
            <a:noFill/>
            <a:ln>
              <a:noFill/>
            </a:ln>
          </p:spPr>
          <p:txBody>
            <a:bodyPr anchorCtr="0" anchor="ctr" bIns="87625" lIns="83475" spcFirstLastPara="1" rIns="83475" wrap="square" tIns="87625">
              <a:noAutofit/>
            </a:bodyPr>
            <a:lstStyle/>
            <a:p>
              <a:pPr indent="0" lvl="0" marL="0" marR="0" rtl="0" algn="ctr">
                <a:lnSpc>
                  <a:spcPct val="90000"/>
                </a:lnSpc>
                <a:spcBef>
                  <a:spcPts val="0"/>
                </a:spcBef>
                <a:spcAft>
                  <a:spcPts val="0"/>
                </a:spcAft>
                <a:buClr>
                  <a:schemeClr val="lt1"/>
                </a:buClr>
                <a:buSzPts val="1500"/>
                <a:buFont typeface="Arial"/>
                <a:buNone/>
              </a:pPr>
              <a:r>
                <a:rPr lang="es-ES" sz="1500">
                  <a:solidFill>
                    <a:schemeClr val="lt1"/>
                  </a:solidFill>
                  <a:latin typeface="Arial"/>
                  <a:ea typeface="Arial"/>
                  <a:cs typeface="Arial"/>
                  <a:sym typeface="Arial"/>
                </a:rPr>
                <a:t>16. Paz, justicia e instituciones sólidas. </a:t>
              </a:r>
              <a:endParaRPr sz="1500">
                <a:solidFill>
                  <a:schemeClr val="lt1"/>
                </a:solidFill>
                <a:latin typeface="Arial"/>
                <a:ea typeface="Arial"/>
                <a:cs typeface="Arial"/>
                <a:sym typeface="Arial"/>
              </a:endParaRPr>
            </a:p>
          </p:txBody>
        </p:sp>
      </p:grpSp>
    </p:spTree>
  </p:cSld>
  <p:clrMapOvr>
    <a:masterClrMapping/>
  </p:clrMapOvr>
  <mc:AlternateContent>
    <mc:Choice Requires="p14">
      <p:transition spd="slow" p14:dur="1500">
        <p:fade thruBlk="1"/>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6"/>
          <p:cNvSpPr txBox="1"/>
          <p:nvPr/>
        </p:nvSpPr>
        <p:spPr>
          <a:xfrm>
            <a:off x="1371600" y="1257300"/>
            <a:ext cx="7310437"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800">
                <a:solidFill>
                  <a:schemeClr val="dk1"/>
                </a:solidFill>
                <a:latin typeface="Arial"/>
                <a:ea typeface="Arial"/>
                <a:cs typeface="Arial"/>
                <a:sym typeface="Arial"/>
              </a:rPr>
              <a:t>Los ODS predominantemente económicos son:</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 </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7. Energía asequible y no contaminante. </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8. Trabajo decente y crecimiento económico. </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9. Industria, innovación e infraestructura. </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12. Producción y consumo responsable.</a:t>
            </a:r>
            <a:endParaRPr/>
          </a:p>
          <a:p>
            <a:pPr indent="0" lvl="0" marL="0" marR="0" rtl="0" algn="l">
              <a:spcBef>
                <a:spcPts val="0"/>
              </a:spcBef>
              <a:spcAft>
                <a:spcPts val="0"/>
              </a:spcAft>
              <a:buNone/>
            </a:pPr>
            <a:r>
              <a:rPr lang="es-ES" sz="2800">
                <a:solidFill>
                  <a:schemeClr val="dk1"/>
                </a:solidFill>
                <a:latin typeface="Arial"/>
                <a:ea typeface="Arial"/>
                <a:cs typeface="Arial"/>
                <a:sym typeface="Arial"/>
              </a:rPr>
              <a:t>16. Paz, justicia e instituciones sólidas. </a:t>
            </a:r>
            <a:endParaRPr/>
          </a:p>
        </p:txBody>
      </p:sp>
      <p:sp>
        <p:nvSpPr>
          <p:cNvPr id="401" name="Google Shape;401;p36"/>
          <p:cNvSpPr txBox="1"/>
          <p:nvPr/>
        </p:nvSpPr>
        <p:spPr>
          <a:xfrm>
            <a:off x="533400" y="5871271"/>
            <a:ext cx="7192566"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Arial"/>
                <a:ea typeface="Arial"/>
                <a:cs typeface="Arial"/>
                <a:sym typeface="Arial"/>
              </a:rPr>
              <a:t>El ODS 16 aparece explícitamente mencionado en las tres dimensiones del desarrollo sostenible. Esto es porque la guerra y todas las formas de violencia dificultan enormemente la consecución de cualquier objetivo a largo plazo. </a:t>
            </a:r>
            <a:endParaRPr/>
          </a:p>
        </p:txBody>
      </p:sp>
      <p:pic>
        <p:nvPicPr>
          <p:cNvPr descr="Manos sosteniendo plantas" id="402" name="Google Shape;402;p36"/>
          <p:cNvPicPr preferRelativeResize="0"/>
          <p:nvPr/>
        </p:nvPicPr>
        <p:blipFill rotWithShape="1">
          <a:blip r:embed="rId3">
            <a:alphaModFix/>
          </a:blip>
          <a:srcRect b="0" l="0" r="0" t="0"/>
          <a:stretch/>
        </p:blipFill>
        <p:spPr>
          <a:xfrm rot="-2353852">
            <a:off x="7744487" y="2703351"/>
            <a:ext cx="7760316" cy="4364191"/>
          </a:xfrm>
          <a:prstGeom prst="rect">
            <a:avLst/>
          </a:prstGeom>
          <a:noFill/>
          <a:ln>
            <a:noFill/>
          </a:ln>
        </p:spPr>
      </p:pic>
      <p:pic>
        <p:nvPicPr>
          <p:cNvPr descr="Garabato con relleno sólido" id="403" name="Google Shape;403;p36"/>
          <p:cNvPicPr preferRelativeResize="0"/>
          <p:nvPr/>
        </p:nvPicPr>
        <p:blipFill rotWithShape="1">
          <a:blip r:embed="rId4">
            <a:alphaModFix/>
          </a:blip>
          <a:srcRect b="0" l="0" r="0" t="0"/>
          <a:stretch/>
        </p:blipFill>
        <p:spPr>
          <a:xfrm>
            <a:off x="14431566" y="6755957"/>
            <a:ext cx="2253228" cy="2253228"/>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descr="Un puente con nieve&#10;&#10;Descripción generada automáticamente con confianza baja" id="408" name="Google Shape;408;p37"/>
          <p:cNvPicPr preferRelativeResize="0"/>
          <p:nvPr/>
        </p:nvPicPr>
        <p:blipFill rotWithShape="1">
          <a:blip r:embed="rId3">
            <a:alphaModFix/>
          </a:blip>
          <a:srcRect b="-2" l="0" r="3245" t="0"/>
          <a:stretch/>
        </p:blipFill>
        <p:spPr>
          <a:xfrm>
            <a:off x="1752600" y="10"/>
            <a:ext cx="6643642" cy="10286990"/>
          </a:xfrm>
          <a:custGeom>
            <a:rect b="b" l="l" r="r" t="t"/>
            <a:pathLst>
              <a:path extrusionOk="0" h="6858000" w="4429095">
                <a:moveTo>
                  <a:pt x="1056708" y="0"/>
                </a:moveTo>
                <a:lnTo>
                  <a:pt x="2117412" y="0"/>
                </a:lnTo>
                <a:lnTo>
                  <a:pt x="2472664" y="0"/>
                </a:lnTo>
                <a:lnTo>
                  <a:pt x="3096568" y="0"/>
                </a:lnTo>
                <a:lnTo>
                  <a:pt x="3533368" y="0"/>
                </a:lnTo>
                <a:lnTo>
                  <a:pt x="4429095" y="0"/>
                </a:lnTo>
                <a:lnTo>
                  <a:pt x="4425089" y="3148"/>
                </a:lnTo>
                <a:cubicBezTo>
                  <a:pt x="3438388" y="817446"/>
                  <a:pt x="2809467" y="2049777"/>
                  <a:pt x="2809467" y="3429000"/>
                </a:cubicBezTo>
                <a:cubicBezTo>
                  <a:pt x="2809467" y="4808224"/>
                  <a:pt x="3438388" y="6040555"/>
                  <a:pt x="4425089" y="6854853"/>
                </a:cubicBezTo>
                <a:lnTo>
                  <a:pt x="4429094" y="6858000"/>
                </a:lnTo>
                <a:lnTo>
                  <a:pt x="3533368" y="6858000"/>
                </a:lnTo>
                <a:lnTo>
                  <a:pt x="3096568" y="6858000"/>
                </a:lnTo>
                <a:lnTo>
                  <a:pt x="2472664" y="6858000"/>
                </a:lnTo>
                <a:lnTo>
                  <a:pt x="2117412" y="6858000"/>
                </a:lnTo>
                <a:lnTo>
                  <a:pt x="1056708" y="6858000"/>
                </a:lnTo>
                <a:lnTo>
                  <a:pt x="1040416" y="6835090"/>
                </a:lnTo>
                <a:cubicBezTo>
                  <a:pt x="383551" y="5862802"/>
                  <a:pt x="0" y="4690693"/>
                  <a:pt x="0" y="3429000"/>
                </a:cubicBezTo>
                <a:cubicBezTo>
                  <a:pt x="0" y="2167308"/>
                  <a:pt x="383551" y="995199"/>
                  <a:pt x="1040416" y="22911"/>
                </a:cubicBezTo>
                <a:close/>
              </a:path>
            </a:pathLst>
          </a:custGeom>
          <a:noFill/>
          <a:ln>
            <a:noFill/>
          </a:ln>
        </p:spPr>
      </p:pic>
      <p:sp>
        <p:nvSpPr>
          <p:cNvPr id="409" name="Google Shape;409;p37"/>
          <p:cNvSpPr txBox="1"/>
          <p:nvPr/>
        </p:nvSpPr>
        <p:spPr>
          <a:xfrm>
            <a:off x="8001000" y="952500"/>
            <a:ext cx="8382000" cy="1588127"/>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lang="es-ES" sz="5400">
                <a:solidFill>
                  <a:srgbClr val="3A7D22"/>
                </a:solidFill>
                <a:latin typeface="Overlock"/>
                <a:ea typeface="Overlock"/>
                <a:cs typeface="Overlock"/>
                <a:sym typeface="Overlock"/>
              </a:rPr>
              <a:t>1.6.1. Los ODS son universales</a:t>
            </a:r>
            <a:endParaRPr sz="5400">
              <a:solidFill>
                <a:srgbClr val="3A7D22"/>
              </a:solidFill>
              <a:latin typeface="Overlock"/>
              <a:ea typeface="Overlock"/>
              <a:cs typeface="Overlock"/>
              <a:sym typeface="Overlock"/>
            </a:endParaRPr>
          </a:p>
        </p:txBody>
      </p:sp>
      <p:sp>
        <p:nvSpPr>
          <p:cNvPr id="410" name="Google Shape;410;p37"/>
          <p:cNvSpPr txBox="1"/>
          <p:nvPr/>
        </p:nvSpPr>
        <p:spPr>
          <a:xfrm>
            <a:off x="7478383" y="3126053"/>
            <a:ext cx="8895413" cy="328776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s-ES" sz="2500">
                <a:solidFill>
                  <a:schemeClr val="dk1"/>
                </a:solidFill>
                <a:latin typeface="Arial"/>
                <a:ea typeface="Arial"/>
                <a:cs typeface="Arial"/>
                <a:sym typeface="Arial"/>
              </a:rPr>
              <a:t>Los 17 ODS son universales ya que no son una imposición de los países desarrollados a los países en vías de desarrollo. </a:t>
            </a:r>
            <a:endParaRPr/>
          </a:p>
          <a:p>
            <a:pPr indent="0" lvl="0" marL="0" marR="0" rtl="0" algn="l">
              <a:lnSpc>
                <a:spcPct val="90000"/>
              </a:lnSpc>
              <a:spcBef>
                <a:spcPts val="600"/>
              </a:spcBef>
              <a:spcAft>
                <a:spcPts val="0"/>
              </a:spcAft>
              <a:buNone/>
            </a:pPr>
            <a:r>
              <a:rPr lang="es-ES" sz="2500">
                <a:solidFill>
                  <a:schemeClr val="dk1"/>
                </a:solidFill>
                <a:latin typeface="Arial"/>
                <a:ea typeface="Arial"/>
                <a:cs typeface="Arial"/>
                <a:sym typeface="Arial"/>
              </a:rPr>
              <a:t>Adicionalmente, los ODS son universales porque se basan en los derechos humanos que protegen a todas y cada una de las personas, en particular, a las niñas y mujeres, de aquí surge el lema «No dejar a nadie atrás». En definitiva, las líneas directrices de los ODS son el </a:t>
            </a:r>
            <a:r>
              <a:rPr b="1" lang="es-ES" sz="2500">
                <a:solidFill>
                  <a:schemeClr val="dk1"/>
                </a:solidFill>
                <a:latin typeface="Arial"/>
                <a:ea typeface="Arial"/>
                <a:cs typeface="Arial"/>
                <a:sym typeface="Arial"/>
              </a:rPr>
              <a:t>planeta</a:t>
            </a:r>
            <a:r>
              <a:rPr lang="es-ES" sz="2500">
                <a:solidFill>
                  <a:schemeClr val="dk1"/>
                </a:solidFill>
                <a:latin typeface="Arial"/>
                <a:ea typeface="Arial"/>
                <a:cs typeface="Arial"/>
                <a:sym typeface="Arial"/>
              </a:rPr>
              <a:t>, las </a:t>
            </a:r>
            <a:r>
              <a:rPr b="1" lang="es-ES" sz="2500">
                <a:solidFill>
                  <a:schemeClr val="dk1"/>
                </a:solidFill>
                <a:latin typeface="Arial"/>
                <a:ea typeface="Arial"/>
                <a:cs typeface="Arial"/>
                <a:sym typeface="Arial"/>
              </a:rPr>
              <a:t>personas</a:t>
            </a:r>
            <a:r>
              <a:rPr lang="es-ES" sz="2500">
                <a:solidFill>
                  <a:schemeClr val="dk1"/>
                </a:solidFill>
                <a:latin typeface="Arial"/>
                <a:ea typeface="Arial"/>
                <a:cs typeface="Arial"/>
                <a:sym typeface="Arial"/>
              </a:rPr>
              <a:t>, la </a:t>
            </a:r>
            <a:r>
              <a:rPr b="1" lang="es-ES" sz="2500">
                <a:solidFill>
                  <a:schemeClr val="dk1"/>
                </a:solidFill>
                <a:latin typeface="Arial"/>
                <a:ea typeface="Arial"/>
                <a:cs typeface="Arial"/>
                <a:sym typeface="Arial"/>
              </a:rPr>
              <a:t>prosperidad</a:t>
            </a:r>
            <a:r>
              <a:rPr lang="es-ES" sz="2500">
                <a:solidFill>
                  <a:schemeClr val="dk1"/>
                </a:solidFill>
                <a:latin typeface="Arial"/>
                <a:ea typeface="Arial"/>
                <a:cs typeface="Arial"/>
                <a:sym typeface="Arial"/>
              </a:rPr>
              <a:t>, la </a:t>
            </a:r>
            <a:r>
              <a:rPr b="1" lang="es-ES" sz="2500">
                <a:solidFill>
                  <a:schemeClr val="dk1"/>
                </a:solidFill>
                <a:latin typeface="Arial"/>
                <a:ea typeface="Arial"/>
                <a:cs typeface="Arial"/>
                <a:sym typeface="Arial"/>
              </a:rPr>
              <a:t>paz</a:t>
            </a:r>
            <a:r>
              <a:rPr lang="es-ES" sz="2500">
                <a:solidFill>
                  <a:schemeClr val="dk1"/>
                </a:solidFill>
                <a:latin typeface="Arial"/>
                <a:ea typeface="Arial"/>
                <a:cs typeface="Arial"/>
                <a:sym typeface="Arial"/>
              </a:rPr>
              <a:t> y la </a:t>
            </a:r>
            <a:r>
              <a:rPr b="1" lang="es-ES" sz="2500">
                <a:solidFill>
                  <a:schemeClr val="dk1"/>
                </a:solidFill>
                <a:latin typeface="Arial"/>
                <a:ea typeface="Arial"/>
                <a:cs typeface="Arial"/>
                <a:sym typeface="Arial"/>
              </a:rPr>
              <a:t>participación</a:t>
            </a:r>
            <a:r>
              <a:rPr lang="es-ES" sz="2500">
                <a:solidFill>
                  <a:schemeClr val="dk1"/>
                </a:solidFill>
                <a:latin typeface="Arial"/>
                <a:ea typeface="Arial"/>
                <a:cs typeface="Arial"/>
                <a:sym typeface="Arial"/>
              </a:rPr>
              <a:t>, lo que se ha dado en llamar </a:t>
            </a:r>
            <a:r>
              <a:rPr b="1" lang="es-ES" sz="2500">
                <a:solidFill>
                  <a:schemeClr val="dk1"/>
                </a:solidFill>
                <a:latin typeface="Arial"/>
                <a:ea typeface="Arial"/>
                <a:cs typeface="Arial"/>
                <a:sym typeface="Arial"/>
              </a:rPr>
              <a:t>las </a:t>
            </a:r>
            <a:r>
              <a:rPr b="1" i="1" lang="es-ES" sz="2500">
                <a:solidFill>
                  <a:schemeClr val="dk1"/>
                </a:solidFill>
                <a:latin typeface="Arial"/>
                <a:ea typeface="Arial"/>
                <a:cs typeface="Arial"/>
                <a:sym typeface="Arial"/>
              </a:rPr>
              <a:t>5P</a:t>
            </a:r>
            <a:r>
              <a:rPr i="1" lang="es-ES" sz="2500">
                <a:solidFill>
                  <a:schemeClr val="dk1"/>
                </a:solidFill>
                <a:latin typeface="Arial"/>
                <a:ea typeface="Arial"/>
                <a:cs typeface="Arial"/>
                <a:sym typeface="Arial"/>
              </a:rPr>
              <a:t>.</a:t>
            </a:r>
            <a:endParaRPr sz="2500">
              <a:solidFill>
                <a:schemeClr val="dk1"/>
              </a:solidFill>
              <a:latin typeface="Arial"/>
              <a:ea typeface="Arial"/>
              <a:cs typeface="Arial"/>
              <a:sym typeface="Arial"/>
            </a:endParaRPr>
          </a:p>
        </p:txBody>
      </p:sp>
      <p:pic>
        <p:nvPicPr>
          <p:cNvPr descr="Un dibujo de una persona&#10;&#10;Descripción generada automáticamente con confianza baja" id="411" name="Google Shape;411;p37"/>
          <p:cNvPicPr preferRelativeResize="0"/>
          <p:nvPr/>
        </p:nvPicPr>
        <p:blipFill rotWithShape="1">
          <a:blip r:embed="rId4">
            <a:alphaModFix/>
          </a:blip>
          <a:srcRect b="0" l="0" r="0" t="0"/>
          <a:stretch/>
        </p:blipFill>
        <p:spPr>
          <a:xfrm>
            <a:off x="14097000" y="6591300"/>
            <a:ext cx="2438400" cy="2438400"/>
          </a:xfrm>
          <a:prstGeom prst="rect">
            <a:avLst/>
          </a:prstGeom>
          <a:noFill/>
          <a:ln>
            <a:noFill/>
          </a:ln>
        </p:spPr>
      </p:pic>
    </p:spTree>
  </p:cSld>
  <p:clrMapOvr>
    <a:masterClrMapping/>
  </p:clrMapOvr>
  <mc:AlternateContent>
    <mc:Choice Requires="p14">
      <p:transition spd="slow" p14:dur="1500">
        <p:fade thruBlk="1"/>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graphicFrame>
        <p:nvGraphicFramePr>
          <p:cNvPr id="416" name="Google Shape;416;p38"/>
          <p:cNvGraphicFramePr/>
          <p:nvPr/>
        </p:nvGraphicFramePr>
        <p:xfrm>
          <a:off x="0" y="0"/>
          <a:ext cx="3000000" cy="3000000"/>
        </p:xfrm>
        <a:graphic>
          <a:graphicData uri="http://schemas.openxmlformats.org/drawingml/2006/table">
            <a:tbl>
              <a:tblPr bandRow="1" firstCol="1" firstRow="1">
                <a:solidFill>
                  <a:srgbClr val="F2F2F2">
                    <a:alpha val="44705"/>
                  </a:srgbClr>
                </a:solidFill>
                <a:tableStyleId>{9BD1A15F-D033-4F78-B48B-6198409DA2BD}</a:tableStyleId>
              </a:tblPr>
              <a:tblGrid>
                <a:gridCol w="9906000"/>
              </a:tblGrid>
              <a:tr h="452900">
                <a:tc>
                  <a:txBody>
                    <a:bodyPr/>
                    <a:lstStyle/>
                    <a:p>
                      <a:pPr indent="0" lvl="0" marL="0" marR="0" rtl="0" algn="ctr">
                        <a:spcBef>
                          <a:spcPts val="0"/>
                        </a:spcBef>
                        <a:spcAft>
                          <a:spcPts val="0"/>
                        </a:spcAft>
                        <a:buNone/>
                      </a:pPr>
                      <a:r>
                        <a:rPr b="0" lang="es-ES" sz="2100" u="none" cap="none" strike="noStrike">
                          <a:solidFill>
                            <a:schemeClr val="lt1"/>
                          </a:solidFill>
                          <a:highlight>
                            <a:srgbClr val="B89C91"/>
                          </a:highlight>
                        </a:rPr>
                        <a:t>ODS 4. Educación de calidad</a:t>
                      </a:r>
                      <a:endParaRPr b="0" sz="2100" u="none" cap="none" strike="noStrike">
                        <a:solidFill>
                          <a:schemeClr val="lt1"/>
                        </a:solidFill>
                        <a:highlight>
                          <a:srgbClr val="B89C91"/>
                        </a:highlight>
                        <a:latin typeface="Arial"/>
                        <a:ea typeface="Arial"/>
                        <a:cs typeface="Arial"/>
                        <a:sym typeface="Arial"/>
                      </a:endParaRPr>
                    </a:p>
                  </a:txBody>
                  <a:tcPr marT="114875" marB="0" marR="86150" marL="86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708950">
                <a:tc>
                  <a:txBody>
                    <a:bodyPr/>
                    <a:lstStyle/>
                    <a:p>
                      <a:pPr indent="0" lvl="0" marL="0" marR="0" rtl="0" algn="just">
                        <a:spcBef>
                          <a:spcPts val="0"/>
                        </a:spcBef>
                        <a:spcAft>
                          <a:spcPts val="0"/>
                        </a:spcAft>
                        <a:buNone/>
                      </a:pPr>
                      <a:r>
                        <a:rPr b="1" lang="es-ES" sz="2100" u="none" cap="none" strike="noStrike">
                          <a:solidFill>
                            <a:schemeClr val="dk1"/>
                          </a:solidFill>
                        </a:rPr>
                        <a:t>Metas</a:t>
                      </a:r>
                      <a:endParaRPr/>
                    </a:p>
                    <a:p>
                      <a:pPr indent="0" lvl="0" marL="0" marR="0" rtl="0" algn="just">
                        <a:spcBef>
                          <a:spcPts val="0"/>
                        </a:spcBef>
                        <a:spcAft>
                          <a:spcPts val="0"/>
                        </a:spcAft>
                        <a:buNone/>
                      </a:pPr>
                      <a:r>
                        <a:t/>
                      </a:r>
                      <a:endParaRPr b="1" sz="2100" u="none" cap="none" strike="noStrike">
                        <a:solidFill>
                          <a:schemeClr val="dk1"/>
                        </a:solidFill>
                        <a:latin typeface="Arial"/>
                        <a:ea typeface="Arial"/>
                        <a:cs typeface="Arial"/>
                        <a:sym typeface="Arial"/>
                      </a:endParaRPr>
                    </a:p>
                  </a:txBody>
                  <a:tcPr marT="114875" marB="0" marR="86150" marL="86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4705"/>
                      </a:srgbClr>
                    </a:solidFill>
                  </a:tcPr>
                </a:tc>
              </a:tr>
              <a:tr h="2542900">
                <a:tc>
                  <a:txBody>
                    <a:bodyPr/>
                    <a:lstStyle/>
                    <a:p>
                      <a:pPr indent="0" lvl="0" marL="0" marR="0" rtl="0" algn="just">
                        <a:spcBef>
                          <a:spcPts val="0"/>
                        </a:spcBef>
                        <a:spcAft>
                          <a:spcPts val="0"/>
                        </a:spcAft>
                        <a:buNone/>
                      </a:pPr>
                      <a:r>
                        <a:t/>
                      </a:r>
                      <a:endParaRPr b="1" sz="2100" u="none" cap="none" strike="noStrike">
                        <a:solidFill>
                          <a:schemeClr val="dk1"/>
                        </a:solidFill>
                      </a:endParaRPr>
                    </a:p>
                    <a:p>
                      <a:pPr indent="0" lvl="0" marL="0" marR="0" rtl="0" algn="just">
                        <a:spcBef>
                          <a:spcPts val="0"/>
                        </a:spcBef>
                        <a:spcAft>
                          <a:spcPts val="0"/>
                        </a:spcAft>
                        <a:buNone/>
                      </a:pPr>
                      <a:r>
                        <a:rPr b="1" lang="es-ES" sz="2100" u="none" cap="none" strike="noStrike">
                          <a:solidFill>
                            <a:schemeClr val="dk1"/>
                          </a:solidFill>
                        </a:rPr>
                        <a:t>El ODS 4 consta de 7 metas. Por ejemplo, la meta 4.6 propone:</a:t>
                      </a:r>
                      <a:endParaRPr/>
                    </a:p>
                    <a:p>
                      <a:pPr indent="0" lvl="0" marL="0" marR="0" rtl="0" algn="just">
                        <a:spcBef>
                          <a:spcPts val="0"/>
                        </a:spcBef>
                        <a:spcAft>
                          <a:spcPts val="0"/>
                        </a:spcAft>
                        <a:buNone/>
                      </a:pPr>
                      <a:r>
                        <a:rPr b="1" lang="es-ES" sz="2100" u="none" cap="none" strike="noStrike">
                          <a:solidFill>
                            <a:schemeClr val="dk1"/>
                          </a:solidFill>
                        </a:rPr>
                        <a:t> </a:t>
                      </a:r>
                      <a:endParaRPr/>
                    </a:p>
                    <a:p>
                      <a:pPr indent="-285750" lvl="1" marL="742950" marR="0" rtl="0" algn="just">
                        <a:spcBef>
                          <a:spcPts val="0"/>
                        </a:spcBef>
                        <a:spcAft>
                          <a:spcPts val="0"/>
                        </a:spcAft>
                        <a:buClr>
                          <a:schemeClr val="dk1"/>
                        </a:buClr>
                        <a:buSzPts val="2100"/>
                        <a:buFont typeface="TimesNewRoman"/>
                        <a:buAutoNum type="arabicPeriod" startAt="6"/>
                      </a:pPr>
                      <a:r>
                        <a:rPr b="1" lang="es-ES" sz="2100" u="none" cap="none" strike="noStrike">
                          <a:solidFill>
                            <a:schemeClr val="dk1"/>
                          </a:solidFill>
                        </a:rPr>
                        <a:t>De aquí al 2030, asegurar que todos los jóvenes y una proporción considerable de los adultos, tanto hombres como mujeres, estén alfabetizados y tengan nociones elementales de aritmética.</a:t>
                      </a:r>
                      <a:endParaRPr b="1" sz="2100" u="none" cap="none" strike="noStrike">
                        <a:solidFill>
                          <a:schemeClr val="dk1"/>
                        </a:solidFill>
                      </a:endParaRPr>
                    </a:p>
                    <a:p>
                      <a:pPr indent="0" lvl="0" marL="0" marR="0" rtl="0" algn="just">
                        <a:spcBef>
                          <a:spcPts val="0"/>
                        </a:spcBef>
                        <a:spcAft>
                          <a:spcPts val="0"/>
                        </a:spcAft>
                        <a:buNone/>
                      </a:pPr>
                      <a:r>
                        <a:rPr b="1" lang="es-ES" sz="2100" u="none" cap="none" strike="noStrike">
                          <a:solidFill>
                            <a:schemeClr val="dk1"/>
                          </a:solidFill>
                        </a:rPr>
                        <a:t> </a:t>
                      </a:r>
                      <a:endParaRPr b="1" sz="2100" u="none" cap="none" strike="noStrike">
                        <a:solidFill>
                          <a:schemeClr val="dk1"/>
                        </a:solidFill>
                        <a:latin typeface="Arial"/>
                        <a:ea typeface="Arial"/>
                        <a:cs typeface="Arial"/>
                        <a:sym typeface="Arial"/>
                      </a:endParaRPr>
                    </a:p>
                  </a:txBody>
                  <a:tcPr marT="114875" marB="0" marR="86150" marL="861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r h="708950">
                <a:tc>
                  <a:txBody>
                    <a:bodyPr/>
                    <a:lstStyle/>
                    <a:p>
                      <a:pPr indent="0" lvl="0" marL="0" marR="0" rtl="0" algn="just">
                        <a:spcBef>
                          <a:spcPts val="0"/>
                        </a:spcBef>
                        <a:spcAft>
                          <a:spcPts val="0"/>
                        </a:spcAft>
                        <a:buNone/>
                      </a:pPr>
                      <a:r>
                        <a:rPr b="1" lang="es-ES" sz="2100" u="none" cap="none" strike="noStrike">
                          <a:solidFill>
                            <a:schemeClr val="dk1"/>
                          </a:solidFill>
                        </a:rPr>
                        <a:t>Indicadores de la meta 4.6</a:t>
                      </a:r>
                      <a:endParaRPr/>
                    </a:p>
                    <a:p>
                      <a:pPr indent="0" lvl="0" marL="0" marR="0" rtl="0" algn="just">
                        <a:spcBef>
                          <a:spcPts val="0"/>
                        </a:spcBef>
                        <a:spcAft>
                          <a:spcPts val="0"/>
                        </a:spcAft>
                        <a:buNone/>
                      </a:pPr>
                      <a:r>
                        <a:t/>
                      </a:r>
                      <a:endParaRPr b="1" sz="2100" u="none" cap="none" strike="noStrike">
                        <a:solidFill>
                          <a:schemeClr val="dk1"/>
                        </a:solidFill>
                        <a:latin typeface="Arial"/>
                        <a:ea typeface="Arial"/>
                        <a:cs typeface="Arial"/>
                        <a:sym typeface="Arial"/>
                      </a:endParaRPr>
                    </a:p>
                  </a:txBody>
                  <a:tcPr marT="114875" marB="0" marR="86150" marL="86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solidFill>
                      <a:srgbClr val="F2F2F2">
                        <a:alpha val="44705"/>
                      </a:srgbClr>
                    </a:solidFill>
                  </a:tcPr>
                </a:tc>
              </a:tr>
              <a:tr h="2330025">
                <a:tc>
                  <a:txBody>
                    <a:bodyPr/>
                    <a:lstStyle/>
                    <a:p>
                      <a:pPr indent="0" lvl="0" marL="0" marR="0" rtl="0" algn="just">
                        <a:spcBef>
                          <a:spcPts val="0"/>
                        </a:spcBef>
                        <a:spcAft>
                          <a:spcPts val="0"/>
                        </a:spcAft>
                        <a:buNone/>
                      </a:pPr>
                      <a:r>
                        <a:rPr b="1" lang="es-ES" sz="2100" u="none" cap="none" strike="noStrike">
                          <a:solidFill>
                            <a:schemeClr val="dk1"/>
                          </a:solidFill>
                        </a:rPr>
                        <a:t>La meta 4.6 consta de un indicador:</a:t>
                      </a:r>
                      <a:endParaRPr/>
                    </a:p>
                    <a:p>
                      <a:pPr indent="0" lvl="0" marL="0" marR="0" rtl="0" algn="just">
                        <a:spcBef>
                          <a:spcPts val="0"/>
                        </a:spcBef>
                        <a:spcAft>
                          <a:spcPts val="0"/>
                        </a:spcAft>
                        <a:buNone/>
                      </a:pPr>
                      <a:r>
                        <a:rPr b="1" lang="es-ES" sz="2100" u="none" cap="none" strike="noStrike">
                          <a:solidFill>
                            <a:schemeClr val="dk1"/>
                          </a:solidFill>
                        </a:rPr>
                        <a:t> </a:t>
                      </a:r>
                      <a:endParaRPr/>
                    </a:p>
                    <a:p>
                      <a:pPr indent="-228600" lvl="2" marL="1143000" marR="0" rtl="0" algn="just">
                        <a:lnSpc>
                          <a:spcPct val="107000"/>
                        </a:lnSpc>
                        <a:spcBef>
                          <a:spcPts val="0"/>
                        </a:spcBef>
                        <a:spcAft>
                          <a:spcPts val="0"/>
                        </a:spcAft>
                        <a:buClr>
                          <a:schemeClr val="dk1"/>
                        </a:buClr>
                        <a:buSzPts val="2100"/>
                        <a:buFont typeface="TimesNewRoman"/>
                        <a:buAutoNum type="arabicPeriod"/>
                      </a:pPr>
                      <a:r>
                        <a:rPr b="1" lang="es-ES" sz="2100" u="none" cap="none" strike="noStrike">
                          <a:solidFill>
                            <a:schemeClr val="dk1"/>
                          </a:solidFill>
                        </a:rPr>
                        <a:t>Proporción de la población en un grupo de edad determinado que ha alcanzado al menos un nivel fijo de competencia funcional en a) alfabetización y b) nociones elementales de aritmética, desglosada por sexo.</a:t>
                      </a:r>
                      <a:endParaRPr/>
                    </a:p>
                    <a:p>
                      <a:pPr indent="0" lvl="0" marL="457200" marR="0" rtl="0" algn="l">
                        <a:lnSpc>
                          <a:spcPct val="107000"/>
                        </a:lnSpc>
                        <a:spcBef>
                          <a:spcPts val="0"/>
                        </a:spcBef>
                        <a:spcAft>
                          <a:spcPts val="0"/>
                        </a:spcAft>
                        <a:buNone/>
                      </a:pPr>
                      <a:r>
                        <a:rPr b="1" lang="es-ES" sz="2100" u="none" cap="none" strike="noStrike">
                          <a:solidFill>
                            <a:schemeClr val="dk1"/>
                          </a:solidFill>
                        </a:rPr>
                        <a:t> </a:t>
                      </a:r>
                      <a:endParaRPr b="1" sz="2100" u="none" cap="none" strike="noStrike">
                        <a:solidFill>
                          <a:schemeClr val="dk1"/>
                        </a:solidFill>
                        <a:latin typeface="Arial"/>
                        <a:ea typeface="Arial"/>
                        <a:cs typeface="Arial"/>
                        <a:sym typeface="Arial"/>
                      </a:endParaRPr>
                    </a:p>
                  </a:txBody>
                  <a:tcPr marT="114875" marB="0" marR="86150" marL="861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BFBFB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FBFBF">
                        <a:alpha val="34901"/>
                      </a:srgbClr>
                    </a:solidFill>
                  </a:tcPr>
                </a:tc>
              </a:tr>
            </a:tbl>
          </a:graphicData>
        </a:graphic>
      </p:graphicFrame>
      <p:sp>
        <p:nvSpPr>
          <p:cNvPr id="417" name="Google Shape;417;p38"/>
          <p:cNvSpPr txBox="1"/>
          <p:nvPr/>
        </p:nvSpPr>
        <p:spPr>
          <a:xfrm>
            <a:off x="10896600" y="4981614"/>
            <a:ext cx="6248400" cy="319722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s-ES" sz="2800">
                <a:solidFill>
                  <a:srgbClr val="595959"/>
                </a:solidFill>
                <a:latin typeface="Arial"/>
                <a:ea typeface="Arial"/>
                <a:cs typeface="Arial"/>
                <a:sym typeface="Arial"/>
              </a:rPr>
              <a:t>La Agenda 2030 se compone de objetivos de desarrollo sostenible, 17 en total. A su vez, cada uno de los objetivos se compone de un número variable de metas y, por su parte, cada meta se divide en indicadores para evaluar el grado de consecución de cada meta.</a:t>
            </a:r>
            <a:endParaRPr/>
          </a:p>
        </p:txBody>
      </p:sp>
      <p:sp>
        <p:nvSpPr>
          <p:cNvPr id="418" name="Google Shape;418;p38"/>
          <p:cNvSpPr txBox="1"/>
          <p:nvPr/>
        </p:nvSpPr>
        <p:spPr>
          <a:xfrm>
            <a:off x="11811000" y="1257300"/>
            <a:ext cx="5486401" cy="308392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b="1" lang="es-ES" sz="5400">
                <a:solidFill>
                  <a:srgbClr val="3A7D22"/>
                </a:solidFill>
                <a:latin typeface="Overlock"/>
                <a:ea typeface="Overlock"/>
                <a:cs typeface="Overlock"/>
                <a:sym typeface="Overlock"/>
              </a:rPr>
              <a:t>1.6.2 Objetivos, metas e indicadores de la Agenda 2030</a:t>
            </a:r>
            <a:endParaRPr sz="5400">
              <a:solidFill>
                <a:srgbClr val="3A7D22"/>
              </a:solidFill>
              <a:latin typeface="Overlock"/>
              <a:ea typeface="Overlock"/>
              <a:cs typeface="Overlock"/>
              <a:sym typeface="Overlock"/>
            </a:endParaRPr>
          </a:p>
        </p:txBody>
      </p:sp>
      <p:sp>
        <p:nvSpPr>
          <p:cNvPr id="419" name="Google Shape;419;p38"/>
          <p:cNvSpPr/>
          <p:nvPr/>
        </p:nvSpPr>
        <p:spPr>
          <a:xfrm>
            <a:off x="1658815" y="6728224"/>
            <a:ext cx="2895600" cy="2621752"/>
          </a:xfrm>
          <a:prstGeom prst="flowChartMagneticTape">
            <a:avLst/>
          </a:prstGeom>
          <a:blipFill rotWithShape="1">
            <a:blip r:embed="rId3">
              <a:alphaModFix/>
            </a:blip>
            <a:stretch>
              <a:fillRect b="0" l="0" r="0" t="0"/>
            </a:stretch>
          </a:blip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20" name="Google Shape;420;p38"/>
          <p:cNvCxnSpPr/>
          <p:nvPr/>
        </p:nvCxnSpPr>
        <p:spPr>
          <a:xfrm>
            <a:off x="5943600" y="7581900"/>
            <a:ext cx="3429000" cy="0"/>
          </a:xfrm>
          <a:prstGeom prst="straightConnector1">
            <a:avLst/>
          </a:prstGeom>
          <a:noFill/>
          <a:ln cap="flat" cmpd="sng" w="111125">
            <a:solidFill>
              <a:srgbClr val="FFC000"/>
            </a:solidFill>
            <a:prstDash val="solid"/>
            <a:miter lim="800000"/>
            <a:headEnd len="sm" w="sm" type="none"/>
            <a:tailEnd len="sm" w="sm" type="none"/>
          </a:ln>
        </p:spPr>
      </p:cxnSp>
      <p:cxnSp>
        <p:nvCxnSpPr>
          <p:cNvPr id="421" name="Google Shape;421;p38"/>
          <p:cNvCxnSpPr/>
          <p:nvPr/>
        </p:nvCxnSpPr>
        <p:spPr>
          <a:xfrm>
            <a:off x="6096000" y="7734300"/>
            <a:ext cx="3429000" cy="0"/>
          </a:xfrm>
          <a:prstGeom prst="straightConnector1">
            <a:avLst/>
          </a:prstGeom>
          <a:noFill/>
          <a:ln cap="flat" cmpd="sng" w="111125">
            <a:solidFill>
              <a:srgbClr val="F6C5AB"/>
            </a:solidFill>
            <a:prstDash val="solid"/>
            <a:miter lim="800000"/>
            <a:headEnd len="sm" w="sm" type="none"/>
            <a:tailEnd len="sm" w="sm" type="none"/>
          </a:ln>
        </p:spPr>
      </p:cxnSp>
      <p:cxnSp>
        <p:nvCxnSpPr>
          <p:cNvPr id="422" name="Google Shape;422;p38"/>
          <p:cNvCxnSpPr/>
          <p:nvPr/>
        </p:nvCxnSpPr>
        <p:spPr>
          <a:xfrm>
            <a:off x="6248400" y="7886700"/>
            <a:ext cx="3429000" cy="0"/>
          </a:xfrm>
          <a:prstGeom prst="straightConnector1">
            <a:avLst/>
          </a:prstGeom>
          <a:noFill/>
          <a:ln cap="flat" cmpd="sng" w="111125">
            <a:solidFill>
              <a:srgbClr val="BF4F14"/>
            </a:solidFill>
            <a:prstDash val="solid"/>
            <a:miter lim="800000"/>
            <a:headEnd len="sm" w="sm" type="none"/>
            <a:tailEnd len="sm" w="sm" type="none"/>
          </a:ln>
        </p:spPr>
      </p:cxnSp>
      <p:cxnSp>
        <p:nvCxnSpPr>
          <p:cNvPr id="423" name="Google Shape;423;p38"/>
          <p:cNvCxnSpPr/>
          <p:nvPr/>
        </p:nvCxnSpPr>
        <p:spPr>
          <a:xfrm>
            <a:off x="6400800" y="8039100"/>
            <a:ext cx="3429000" cy="0"/>
          </a:xfrm>
          <a:prstGeom prst="straightConnector1">
            <a:avLst/>
          </a:prstGeom>
          <a:noFill/>
          <a:ln cap="flat" cmpd="sng" w="111125">
            <a:solidFill>
              <a:srgbClr val="171B4D"/>
            </a:solidFill>
            <a:prstDash val="solid"/>
            <a:miter lim="800000"/>
            <a:headEnd len="sm" w="sm" type="none"/>
            <a:tailEnd len="sm" w="sm" type="none"/>
          </a:ln>
        </p:spPr>
      </p:cxnSp>
      <p:cxnSp>
        <p:nvCxnSpPr>
          <p:cNvPr id="424" name="Google Shape;424;p38"/>
          <p:cNvCxnSpPr/>
          <p:nvPr/>
        </p:nvCxnSpPr>
        <p:spPr>
          <a:xfrm>
            <a:off x="6553200" y="8191500"/>
            <a:ext cx="3429000" cy="0"/>
          </a:xfrm>
          <a:prstGeom prst="straightConnector1">
            <a:avLst/>
          </a:prstGeom>
          <a:noFill/>
          <a:ln cap="flat" cmpd="sng" w="111125">
            <a:solidFill>
              <a:schemeClr val="accent1"/>
            </a:solidFill>
            <a:prstDash val="solid"/>
            <a:miter lim="800000"/>
            <a:headEnd len="sm" w="sm" type="none"/>
            <a:tailEnd len="sm" w="sm" type="none"/>
          </a:ln>
        </p:spPr>
      </p:cxnSp>
      <p:cxnSp>
        <p:nvCxnSpPr>
          <p:cNvPr id="425" name="Google Shape;425;p38"/>
          <p:cNvCxnSpPr/>
          <p:nvPr/>
        </p:nvCxnSpPr>
        <p:spPr>
          <a:xfrm>
            <a:off x="6705600" y="8343900"/>
            <a:ext cx="3429000" cy="0"/>
          </a:xfrm>
          <a:prstGeom prst="straightConnector1">
            <a:avLst/>
          </a:prstGeom>
          <a:noFill/>
          <a:ln cap="flat" cmpd="sng" w="111125">
            <a:solidFill>
              <a:srgbClr val="7030A0"/>
            </a:solidFill>
            <a:prstDash val="solid"/>
            <a:miter lim="800000"/>
            <a:headEnd len="sm" w="sm" type="none"/>
            <a:tailEnd len="sm" w="sm" type="none"/>
          </a:ln>
        </p:spPr>
      </p:cxnSp>
      <p:cxnSp>
        <p:nvCxnSpPr>
          <p:cNvPr id="426" name="Google Shape;426;p38"/>
          <p:cNvCxnSpPr/>
          <p:nvPr/>
        </p:nvCxnSpPr>
        <p:spPr>
          <a:xfrm>
            <a:off x="6858000" y="8496300"/>
            <a:ext cx="3429000" cy="0"/>
          </a:xfrm>
          <a:prstGeom prst="straightConnector1">
            <a:avLst/>
          </a:prstGeom>
          <a:noFill/>
          <a:ln cap="flat" cmpd="sng" w="111125">
            <a:solidFill>
              <a:srgbClr val="0070C0"/>
            </a:solidFill>
            <a:prstDash val="solid"/>
            <a:miter lim="800000"/>
            <a:headEnd len="sm" w="sm" type="none"/>
            <a:tailEnd len="sm" w="sm" type="none"/>
          </a:ln>
        </p:spPr>
      </p:cxnSp>
      <p:cxnSp>
        <p:nvCxnSpPr>
          <p:cNvPr id="427" name="Google Shape;427;p38"/>
          <p:cNvCxnSpPr/>
          <p:nvPr/>
        </p:nvCxnSpPr>
        <p:spPr>
          <a:xfrm>
            <a:off x="7010400" y="8648700"/>
            <a:ext cx="3429000" cy="0"/>
          </a:xfrm>
          <a:prstGeom prst="straightConnector1">
            <a:avLst/>
          </a:prstGeom>
          <a:noFill/>
          <a:ln cap="flat" cmpd="sng" w="111125">
            <a:solidFill>
              <a:srgbClr val="92D050"/>
            </a:solidFill>
            <a:prstDash val="solid"/>
            <a:miter lim="800000"/>
            <a:headEnd len="sm" w="sm" type="none"/>
            <a:tailEnd len="sm" w="sm" type="none"/>
          </a:ln>
        </p:spPr>
      </p:cxnSp>
      <p:cxnSp>
        <p:nvCxnSpPr>
          <p:cNvPr id="428" name="Google Shape;428;p38"/>
          <p:cNvCxnSpPr/>
          <p:nvPr/>
        </p:nvCxnSpPr>
        <p:spPr>
          <a:xfrm>
            <a:off x="7162800" y="8801100"/>
            <a:ext cx="3429000" cy="0"/>
          </a:xfrm>
          <a:prstGeom prst="straightConnector1">
            <a:avLst/>
          </a:prstGeom>
          <a:noFill/>
          <a:ln cap="flat" cmpd="sng" w="111125">
            <a:solidFill>
              <a:srgbClr val="FF0000"/>
            </a:solidFill>
            <a:prstDash val="solid"/>
            <a:miter lim="800000"/>
            <a:headEnd len="sm" w="sm" type="none"/>
            <a:tailEnd len="sm" w="sm" type="none"/>
          </a:ln>
        </p:spPr>
      </p:cxnSp>
    </p:spTree>
  </p:cSld>
  <p:clrMapOvr>
    <a:masterClrMapping/>
  </p:clrMapOvr>
  <mc:AlternateContent>
    <mc:Choice Requires="p14">
      <p:transition spd="slow" p14:dur="1500">
        <p:fade thruBlk="1"/>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Un niño con una playera de color negro&#10;&#10;Descripción generada automáticamente con confianza media" id="433" name="Google Shape;433;p39"/>
          <p:cNvPicPr preferRelativeResize="0"/>
          <p:nvPr/>
        </p:nvPicPr>
        <p:blipFill rotWithShape="1">
          <a:blip r:embed="rId3">
            <a:alphaModFix/>
          </a:blip>
          <a:srcRect b="1" l="10641" r="1" t="0"/>
          <a:stretch/>
        </p:blipFill>
        <p:spPr>
          <a:xfrm>
            <a:off x="1" y="26377"/>
            <a:ext cx="10363200" cy="9115551"/>
          </a:xfrm>
          <a:custGeom>
            <a:rect b="b" l="l" r="r" t="t"/>
            <a:pathLst>
              <a:path extrusionOk="0" h="6858000" w="8946363">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a:noFill/>
          <a:ln>
            <a:noFill/>
          </a:ln>
        </p:spPr>
      </p:pic>
      <p:sp>
        <p:nvSpPr>
          <p:cNvPr id="434" name="Google Shape;434;p39"/>
          <p:cNvSpPr txBox="1"/>
          <p:nvPr/>
        </p:nvSpPr>
        <p:spPr>
          <a:xfrm>
            <a:off x="11025555" y="1104900"/>
            <a:ext cx="6300216" cy="1858518"/>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None/>
            </a:pPr>
            <a:r>
              <a:rPr b="1" lang="es-ES" sz="4800">
                <a:solidFill>
                  <a:srgbClr val="3A7D22"/>
                </a:solidFill>
                <a:latin typeface="Overlock"/>
                <a:ea typeface="Overlock"/>
                <a:cs typeface="Overlock"/>
                <a:sym typeface="Overlock"/>
              </a:rPr>
              <a:t>1.6.3 Los ODS están interrelacionados</a:t>
            </a:r>
            <a:endParaRPr sz="4800">
              <a:solidFill>
                <a:srgbClr val="3A7D22"/>
              </a:solidFill>
              <a:latin typeface="Overlock"/>
              <a:ea typeface="Overlock"/>
              <a:cs typeface="Overlock"/>
              <a:sym typeface="Overlock"/>
            </a:endParaRPr>
          </a:p>
        </p:txBody>
      </p:sp>
      <p:sp>
        <p:nvSpPr>
          <p:cNvPr id="435" name="Google Shape;435;p39"/>
          <p:cNvSpPr txBox="1"/>
          <p:nvPr/>
        </p:nvSpPr>
        <p:spPr>
          <a:xfrm>
            <a:off x="11277600" y="3619500"/>
            <a:ext cx="6465482" cy="48108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2400">
                <a:solidFill>
                  <a:schemeClr val="dk1"/>
                </a:solidFill>
                <a:latin typeface="Arial"/>
                <a:ea typeface="Arial"/>
                <a:cs typeface="Arial"/>
                <a:sym typeface="Arial"/>
              </a:rPr>
              <a:t>Otra característica de los ODS es que están todos interrelacionados, de manera que pueden surgir tanto sinergias como contradicciones entre ellos. Por ejemplo, una de las metas del ODS 15-Vida de ecosistemas terrestres es incrementar la reforestación a nivel mundial. Esta meta actúa sinérgicamente con el ODS 13-Acción por el clima, pues contribuye a mitigar el cambio climático, pero podría entrar en contradicción con el ODS 2-Hambre cero.</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descr="Un dibujo de una persona&#10;&#10;Descripción generada automáticamente con confianza baja" id="440" name="Google Shape;440;p40"/>
          <p:cNvPicPr preferRelativeResize="0"/>
          <p:nvPr/>
        </p:nvPicPr>
        <p:blipFill rotWithShape="1">
          <a:blip r:embed="rId3">
            <a:alphaModFix/>
          </a:blip>
          <a:srcRect b="0" l="15732" r="17091" t="0"/>
          <a:stretch/>
        </p:blipFill>
        <p:spPr>
          <a:xfrm>
            <a:off x="20" y="10"/>
            <a:ext cx="10352576" cy="9105890"/>
          </a:xfrm>
          <a:custGeom>
            <a:rect b="b" l="l" r="r" t="t"/>
            <a:pathLst>
              <a:path extrusionOk="0" h="6858000" w="6901731">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ln>
            <a:noFill/>
          </a:ln>
        </p:spPr>
      </p:pic>
      <p:sp>
        <p:nvSpPr>
          <p:cNvPr id="441" name="Google Shape;441;p40"/>
          <p:cNvSpPr txBox="1"/>
          <p:nvPr/>
        </p:nvSpPr>
        <p:spPr>
          <a:xfrm>
            <a:off x="10980699" y="914400"/>
            <a:ext cx="6210021" cy="1996258"/>
          </a:xfrm>
          <a:prstGeom prst="rect">
            <a:avLst/>
          </a:prstGeom>
          <a:noFill/>
          <a:ln>
            <a:noFill/>
          </a:ln>
        </p:spPr>
        <p:txBody>
          <a:bodyPr anchorCtr="0" anchor="ctr" bIns="45700" lIns="91425" spcFirstLastPara="1" rIns="91425" wrap="square" tIns="45700">
            <a:normAutofit/>
          </a:bodyPr>
          <a:lstStyle/>
          <a:p>
            <a:pPr indent="0" lvl="0" marL="12700" marR="0" rtl="0" algn="l">
              <a:lnSpc>
                <a:spcPct val="90000"/>
              </a:lnSpc>
              <a:spcBef>
                <a:spcPts val="0"/>
              </a:spcBef>
              <a:spcAft>
                <a:spcPts val="0"/>
              </a:spcAft>
              <a:buNone/>
            </a:pPr>
            <a:r>
              <a:rPr b="1" lang="es-ES" sz="5400">
                <a:solidFill>
                  <a:schemeClr val="dk1"/>
                </a:solidFill>
                <a:latin typeface="Overlock"/>
                <a:ea typeface="Overlock"/>
                <a:cs typeface="Overlock"/>
                <a:sym typeface="Overlock"/>
              </a:rPr>
              <a:t>1.7. El impacto de la COVID-19</a:t>
            </a:r>
            <a:endParaRPr sz="5400">
              <a:solidFill>
                <a:schemeClr val="dk1"/>
              </a:solidFill>
              <a:latin typeface="Overlock"/>
              <a:ea typeface="Overlock"/>
              <a:cs typeface="Overlock"/>
              <a:sym typeface="Overlock"/>
            </a:endParaRPr>
          </a:p>
        </p:txBody>
      </p:sp>
      <p:sp>
        <p:nvSpPr>
          <p:cNvPr id="442" name="Google Shape;442;p40"/>
          <p:cNvSpPr txBox="1"/>
          <p:nvPr/>
        </p:nvSpPr>
        <p:spPr>
          <a:xfrm>
            <a:off x="10058403" y="4152900"/>
            <a:ext cx="7132317" cy="408519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s-ES" sz="3000">
                <a:solidFill>
                  <a:schemeClr val="dk1"/>
                </a:solidFill>
                <a:latin typeface="Arial"/>
                <a:ea typeface="Arial"/>
                <a:cs typeface="Arial"/>
                <a:sym typeface="Arial"/>
              </a:rPr>
              <a:t>En marzo del 2020, sobrevino una enfermedad vírica desconocida llamada  COVID-19  que  mantuvo  a  las  personas  confinadas  en  sus  casas  durante  meses. Necesariamente, la COVID-19 puso en riesgo años o décadas de avances en los diferentes ODS y, de hecho, provocó un retroceso en muchos indicadores.</a:t>
            </a:r>
            <a:endParaRPr/>
          </a:p>
        </p:txBody>
      </p:sp>
    </p:spTree>
  </p:cSld>
  <p:clrMapOvr>
    <a:masterClrMapping/>
  </p:clrMapOvr>
  <mc:AlternateContent>
    <mc:Choice Requires="p14">
      <p:transition spd="slow" p14:dur="15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